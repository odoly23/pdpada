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oron 1" id="{796ef6bd-4bdb-9443-b84c-2c546200fcf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Hahú ho cumprimentu. Aprezenta ekipa, objetivu formasaun loron 3, no tema loron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Esplika objetivu 3 ne'e. Husu partisipante sira atu hakerek sira-nia expetativa iha papél kiik.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Hatudu agenda. Lembra horáriu deskansu no almosu.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Uza ezemplu kazu rai. Hatudu dadus → informasaun → koñesimentu.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Husu partisipante sira fó ezemplu rasik ba kategoria ida-idak.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Fó tempu ba partisipante atu hatán ‘dadus saida mak ita presiza?’ molok hatudu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Hatudu vantajen no limitasaun ida-idak. Iha prátika, ita bele kombina métodu rua ka liu.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Halo simulasaun entrevista badak ho partisipante voluntáriu rua.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Husu partisipante sira atu hadi'a pergunta la di'ak iha parte karuk.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Enfatiza: ita tau ema nia seguransa antes dadus.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Esplika ho ezemplu: objetivu ‘dokumenta kazu eviksaun’.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Ida ne'e ezemplu. Grupu bele adapta tuir nesesidade organizasaun.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Fó tempu ba partisipante atu hatene tiha, hatudu erru komún iha formuláriu sira.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Fahe grupu 4–5 ema. Fasilitadór lao haree ba grupu ida-idak no fó apoiu.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Husu partisipante sira atu hatán: saida mak ita aprende ohin? Fó tarefa badak.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325880"/>
            <a:ext cx="58521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246120"/>
            <a:ext cx="5669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KSI · Rede ba Rai  |  Formasaun Rekolla no Jestaun Dadus  ·  19–21 Outubru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1"/>
          <p:cNvSpPr/>
          <p:nvPr/>
        </p:nvSpPr>
        <p:spPr>
          <a:xfrm>
            <a:off x="6583680" y="2377440"/>
            <a:ext cx="4206240" cy="42062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Motif 2"/>
          <p:cNvSpPr/>
          <p:nvPr/>
        </p:nvSpPr>
        <p:spPr>
          <a:xfrm>
            <a:off x="7589520" y="-822960"/>
            <a:ext cx="2194560" cy="21945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" name="Motif 3"/>
          <p:cNvSpPr/>
          <p:nvPr/>
        </p:nvSpPr>
        <p:spPr>
          <a:xfrm>
            <a:off x="5760720" y="4023360"/>
            <a:ext cx="1371600" cy="13716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132588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Introdusaun ba Rekolla Dadus no Dezenvolvimentu Instrumentu</a:t>
            </a:r>
            <a:endParaRPr lang="en-US" sz="3400" dirty="0"/>
          </a:p>
        </p:txBody>
      </p:sp>
      <p:sp>
        <p:nvSpPr>
          <p:cNvPr id="6" name="Text 1"/>
          <p:cNvSpPr/>
          <p:nvPr>
            <p:ph idx="102" type="body" hasCustomPrompt="1"/>
          </p:nvPr>
        </p:nvSpPr>
        <p:spPr>
          <a:xfrm>
            <a:off x="548640" y="32461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Formasaun Rekolla no Jestaun Dadus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KSI – Rede ba Rai (RbR)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315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3"/>
                </a:solidFill>
              </a:rPr>
              <a:t>LORON 1  ·  SEGUNDA-FEIRA, 19 OUTUBRU 2026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434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Fasilitadór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Objetivu loron 1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325880"/>
            <a:ext cx="259080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5" name="Card icon 1 circle"/>
          <p:cNvSpPr/>
          <p:nvPr/>
        </p:nvSpPr>
        <p:spPr>
          <a:xfrm>
            <a:off x="685800" y="15544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ard icon 1" descr="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334" y="170901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2331720"/>
            <a:ext cx="213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Komprende dadus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971800"/>
            <a:ext cx="213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Hatene saida mak dadus no tipu dadus ne'ebé uza iha servisu loroloron.</a:t>
            </a:r>
            <a:endParaRPr lang="en-US" sz="1400" dirty="0"/>
          </a:p>
        </p:txBody>
      </p:sp>
      <p:sp>
        <p:nvSpPr>
          <p:cNvPr id="9" name="Card 2"/>
          <p:cNvSpPr/>
          <p:nvPr/>
        </p:nvSpPr>
        <p:spPr>
          <a:xfrm>
            <a:off x="3276600" y="1325880"/>
            <a:ext cx="259080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10" name="Card icon 2 circle"/>
          <p:cNvSpPr/>
          <p:nvPr/>
        </p:nvSpPr>
        <p:spPr>
          <a:xfrm>
            <a:off x="3505200" y="15544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Card icon 2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734" y="170901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05200" y="2331720"/>
            <a:ext cx="213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Hili métodu loos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3505200" y="2971800"/>
            <a:ext cx="213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Hatene métodu rekolla dadus no bele hili ida ne'ebé loos ba nesesidade.</a:t>
            </a:r>
            <a:endParaRPr lang="en-US" sz="1400" dirty="0"/>
          </a:p>
        </p:txBody>
      </p:sp>
      <p:sp>
        <p:nvSpPr>
          <p:cNvPr id="14" name="Card 3"/>
          <p:cNvSpPr/>
          <p:nvPr/>
        </p:nvSpPr>
        <p:spPr>
          <a:xfrm>
            <a:off x="6096000" y="1325880"/>
            <a:ext cx="259080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15" name="Card icon 3 circle"/>
          <p:cNvSpPr/>
          <p:nvPr/>
        </p:nvSpPr>
        <p:spPr>
          <a:xfrm>
            <a:off x="6324600" y="155448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Card icon 3" descr="FaClipboardLi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134" y="1709014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24600" y="2331720"/>
            <a:ext cx="213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Halo instrumentu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6324600" y="2971800"/>
            <a:ext cx="213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Bele dezenvolve formuláriu ida ba dokumentasaun kazu rai.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Agenda loron 1</a:t>
            </a:r>
            <a:endParaRPr lang="en-US" sz="3000" dirty="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Oras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Atividade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08:30–09:00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Rejistu partisipante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09:00–09:30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Abertura, introdusaun no objetivu formasaun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09:30–10:00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Pre-test no identifikasaun expetativa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10:00–10:30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Konseitu báziku kona-ba dadus no tipu dadus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10:45–12:00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Métodu no téknika rekolla dadus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13:00–14:30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Dezenvolvimentu formuláriu no instrumentu rekolla dadus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14:30–15:30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Ezersísiu grupu: dezenvolve formuláriu ba dokumentasaun kazu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15:30–16:00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Refleksaun no rezumu loron dahuluk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Saida mak dadus?</a:t>
            </a:r>
            <a:endParaRPr lang="en-US" sz="3000" dirty="0"/>
          </a:p>
        </p:txBody>
      </p:sp>
      <p:sp>
        <p:nvSpPr>
          <p:cNvPr id="4" name="Step 1"/>
          <p:cNvSpPr/>
          <p:nvPr/>
        </p:nvSpPr>
        <p:spPr>
          <a:xfrm>
            <a:off x="457200" y="1371600"/>
            <a:ext cx="2438400" cy="24688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5" name="Number 1"/>
          <p:cNvSpPr/>
          <p:nvPr/>
        </p:nvSpPr>
        <p:spPr>
          <a:xfrm>
            <a:off x="621792" y="15361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21792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2121408"/>
            <a:ext cx="2109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Dadus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743200"/>
            <a:ext cx="2109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Faktu nesak ne'ebé rekolla.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Ez: “Uma 45 iha suku X.”</a:t>
            </a:r>
            <a:endParaRPr lang="en-US" sz="1400" dirty="0"/>
          </a:p>
        </p:txBody>
      </p:sp>
      <p:sp>
        <p:nvSpPr>
          <p:cNvPr id="9" name="Arrow 1"/>
          <p:cNvSpPr/>
          <p:nvPr/>
        </p:nvSpPr>
        <p:spPr>
          <a:xfrm rot="5400000">
            <a:off x="3051048" y="2514600"/>
            <a:ext cx="146304" cy="182880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0" name="Step 2"/>
          <p:cNvSpPr/>
          <p:nvPr/>
        </p:nvSpPr>
        <p:spPr>
          <a:xfrm>
            <a:off x="3352800" y="1371600"/>
            <a:ext cx="2438400" cy="24688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11" name="Number 2"/>
          <p:cNvSpPr/>
          <p:nvPr/>
        </p:nvSpPr>
        <p:spPr>
          <a:xfrm>
            <a:off x="3517392" y="153619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517392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517392" y="2121408"/>
            <a:ext cx="2109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Informasaun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517392" y="2743200"/>
            <a:ext cx="2109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Dadus ne'ebé organiza.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Ez: “Uma 45 hetan ameasa eviksaun iha 2026.”</a:t>
            </a:r>
            <a:endParaRPr lang="en-US" sz="1400" dirty="0"/>
          </a:p>
        </p:txBody>
      </p:sp>
      <p:sp>
        <p:nvSpPr>
          <p:cNvPr id="15" name="Arrow 2"/>
          <p:cNvSpPr/>
          <p:nvPr/>
        </p:nvSpPr>
        <p:spPr>
          <a:xfrm rot="5400000">
            <a:off x="5946648" y="2514600"/>
            <a:ext cx="146304" cy="182880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6" name="Step 3"/>
          <p:cNvSpPr/>
          <p:nvPr/>
        </p:nvSpPr>
        <p:spPr>
          <a:xfrm>
            <a:off x="6248400" y="1371600"/>
            <a:ext cx="2438400" cy="24688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17" name="Number 3"/>
          <p:cNvSpPr/>
          <p:nvPr/>
        </p:nvSpPr>
        <p:spPr>
          <a:xfrm>
            <a:off x="6412992" y="1536192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12992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412992" y="2121408"/>
            <a:ext cx="2109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Desizaun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412992" y="2743200"/>
            <a:ext cx="2109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Uza informasaun atu halo asaun.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Ez: advokasia no apoiu ba família afetadu.</a:t>
            </a:r>
            <a:endParaRPr lang="en-US" sz="1400" dirty="0"/>
          </a:p>
        </p:txBody>
      </p:sp>
      <p:sp>
        <p:nvSpPr>
          <p:cNvPr id="21" name="Mensajen xave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Dadus di'ak  →  relatóriu di'ak  →  desizaun ne'ebé loos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Tipu dadus</a:t>
            </a:r>
            <a:endParaRPr lang="en-US" sz="3000" dirty="0"/>
          </a:p>
        </p:txBody>
      </p:sp>
      <p:sp>
        <p:nvSpPr>
          <p:cNvPr id="4" name="Left card"/>
          <p:cNvSpPr/>
          <p:nvPr/>
        </p:nvSpPr>
        <p:spPr>
          <a:xfrm>
            <a:off x="457200" y="1280160"/>
            <a:ext cx="402336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481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Kuantitativu (númeru)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011680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Responde: hira? dala hira?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Ez: númeru kazu, área rai (ha), númeru família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Fasil atu soma no kompara</a:t>
            </a:r>
            <a:endParaRPr lang="en-US" sz="1400" dirty="0"/>
          </a:p>
        </p:txBody>
      </p:sp>
      <p:sp>
        <p:nvSpPr>
          <p:cNvPr id="7" name="Right card"/>
          <p:cNvSpPr/>
          <p:nvPr/>
        </p:nvSpPr>
        <p:spPr>
          <a:xfrm>
            <a:off x="4663440" y="1280160"/>
            <a:ext cx="402336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937760" y="1481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Kualitativu (deskrisaun)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2011680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Responde: oinsá? tanba sá?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Ez: istória eviksaun, testemuña, opiniaun komunidade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Fó kontestu no sentidu</a:t>
            </a:r>
            <a:endParaRPr lang="en-US" sz="1400" dirty="0"/>
          </a:p>
        </p:txBody>
      </p:sp>
      <p:sp>
        <p:nvSpPr>
          <p:cNvPr id="10" name="Primáriu no sekundáriu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85800" y="36576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Primáriu: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ita rasik rekolla (entrevista, observasaun).   </a:t>
            </a:r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Sekundáriu: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dokumentu ne'ebé iha ona (sertidaun, relatóriu, mapa).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Dadus iha kazu rai</a:t>
            </a:r>
            <a:endParaRPr lang="en-US" sz="3000" dirty="0"/>
          </a:p>
        </p:txBody>
      </p:sp>
      <p:sp>
        <p:nvSpPr>
          <p:cNvPr id="4" name="Row icon 1 circle"/>
          <p:cNvSpPr/>
          <p:nvPr/>
        </p:nvSpPr>
        <p:spPr>
          <a:xfrm>
            <a:off x="457200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Row icon 1" descr="FaIdC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" y="1548079"/>
            <a:ext cx="241402" cy="24140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88720" y="1399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Identidade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1188720" y="1691640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Naran, idade, seksu, kontaktu</a:t>
            </a:r>
            <a:endParaRPr lang="en-US" sz="1500" dirty="0"/>
          </a:p>
        </p:txBody>
      </p:sp>
      <p:sp>
        <p:nvSpPr>
          <p:cNvPr id="8" name="Row icon 2 circle"/>
          <p:cNvSpPr/>
          <p:nvPr/>
        </p:nvSpPr>
        <p:spPr>
          <a:xfrm>
            <a:off x="457200" y="24231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Row icon 2" descr="FaMapMarked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" y="2553919"/>
            <a:ext cx="241402" cy="24140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88720" y="2404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Fatin no rai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1188720" y="2697480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Suku, aldeia, área, limite, uzu rai</a:t>
            </a:r>
            <a:endParaRPr lang="en-US" sz="1500" dirty="0"/>
          </a:p>
        </p:txBody>
      </p:sp>
      <p:sp>
        <p:nvSpPr>
          <p:cNvPr id="12" name="Row icon 3 circle"/>
          <p:cNvSpPr/>
          <p:nvPr/>
        </p:nvSpPr>
        <p:spPr>
          <a:xfrm>
            <a:off x="457200" y="342900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Row icon 3" descr="FaFile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3559759"/>
            <a:ext cx="241402" cy="24140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88720" y="3410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Dokumentu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1188720" y="3703320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Sertidaun, títulu, surat, mapa</a:t>
            </a:r>
            <a:endParaRPr lang="en-US" sz="1500" dirty="0"/>
          </a:p>
        </p:txBody>
      </p:sp>
      <p:sp>
        <p:nvSpPr>
          <p:cNvPr id="16" name="Row icon 1 circle"/>
          <p:cNvSpPr/>
          <p:nvPr/>
        </p:nvSpPr>
        <p:spPr>
          <a:xfrm>
            <a:off x="4754880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Row icon 1" descr="FaCommen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5639" y="1548079"/>
            <a:ext cx="241402" cy="24140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486400" y="1399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Istória kazu</a:t>
            </a:r>
            <a:endParaRPr lang="en-US" sz="1700" dirty="0"/>
          </a:p>
        </p:txBody>
      </p:sp>
      <p:sp>
        <p:nvSpPr>
          <p:cNvPr id="19" name="Text 12"/>
          <p:cNvSpPr txBox="1"/>
          <p:nvPr/>
        </p:nvSpPr>
        <p:spPr>
          <a:xfrm>
            <a:off x="5486400" y="1691640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Data, kauza, sé mak involve</a:t>
            </a:r>
            <a:endParaRPr lang="en-US" sz="1500" dirty="0"/>
          </a:p>
        </p:txBody>
      </p:sp>
      <p:sp>
        <p:nvSpPr>
          <p:cNvPr id="20" name="Row icon 2 circle"/>
          <p:cNvSpPr/>
          <p:nvPr/>
        </p:nvSpPr>
        <p:spPr>
          <a:xfrm>
            <a:off x="4754880" y="24231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Row icon 2" descr="FaTask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5639" y="2553919"/>
            <a:ext cx="241402" cy="24140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486400" y="2404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Asaun foti ona</a:t>
            </a:r>
            <a:endParaRPr lang="en-US" sz="1700" dirty="0"/>
          </a:p>
        </p:txBody>
      </p:sp>
      <p:sp>
        <p:nvSpPr>
          <p:cNvPr id="23" name="Text 15"/>
          <p:cNvSpPr txBox="1"/>
          <p:nvPr/>
        </p:nvSpPr>
        <p:spPr>
          <a:xfrm>
            <a:off x="5486400" y="2697480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Apoiu, mediasaun, rezultadu</a:t>
            </a:r>
            <a:endParaRPr lang="en-US" sz="1500" dirty="0"/>
          </a:p>
        </p:txBody>
      </p:sp>
      <p:sp>
        <p:nvSpPr>
          <p:cNvPr id="24" name="Row icon 3 circle"/>
          <p:cNvSpPr/>
          <p:nvPr/>
        </p:nvSpPr>
        <p:spPr>
          <a:xfrm>
            <a:off x="4754880" y="342900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5" name="Row icon 3" descr="FaHandshak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5639" y="3559759"/>
            <a:ext cx="241402" cy="24140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5486400" y="3410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Konsentimentu</a:t>
            </a:r>
            <a:endParaRPr lang="en-US" sz="1700" dirty="0"/>
          </a:p>
        </p:txBody>
      </p:sp>
      <p:sp>
        <p:nvSpPr>
          <p:cNvPr id="27" name="Text 18"/>
          <p:cNvSpPr txBox="1"/>
          <p:nvPr/>
        </p:nvSpPr>
        <p:spPr>
          <a:xfrm>
            <a:off x="5486400" y="3703320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Lisensa atu rai no uza dadus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Métodu rekolla dadus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325880"/>
            <a:ext cx="1920240" cy="310896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5" name="Card icon 1 circle"/>
          <p:cNvSpPr/>
          <p:nvPr/>
        </p:nvSpPr>
        <p:spPr>
          <a:xfrm>
            <a:off x="685800" y="15544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ard icon 1" descr="FaMicro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334" y="170901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23317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Entrevista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971800"/>
            <a:ext cx="1463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Konversa direta ho ema ida. Di'ak ba istória no sentimentu.</a:t>
            </a:r>
            <a:endParaRPr lang="en-US" sz="1400" dirty="0"/>
          </a:p>
        </p:txBody>
      </p:sp>
      <p:sp>
        <p:nvSpPr>
          <p:cNvPr id="9" name="Card 2"/>
          <p:cNvSpPr/>
          <p:nvPr/>
        </p:nvSpPr>
        <p:spPr>
          <a:xfrm>
            <a:off x="2560320" y="1325880"/>
            <a:ext cx="1920240" cy="310896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0" name="Card icon 2 circle"/>
          <p:cNvSpPr/>
          <p:nvPr/>
        </p:nvSpPr>
        <p:spPr>
          <a:xfrm>
            <a:off x="2788920" y="15544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Card icon 2" descr="FaEy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454" y="170901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788920" y="23317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Observasaun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2788920" y="2971800"/>
            <a:ext cx="1463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Haree no hakerek situasaun iha terrenu, ez: limite rai.</a:t>
            </a:r>
            <a:endParaRPr lang="en-US" sz="1400" dirty="0"/>
          </a:p>
        </p:txBody>
      </p:sp>
      <p:sp>
        <p:nvSpPr>
          <p:cNvPr id="14" name="Card 3"/>
          <p:cNvSpPr/>
          <p:nvPr/>
        </p:nvSpPr>
        <p:spPr>
          <a:xfrm>
            <a:off x="4663440" y="1325880"/>
            <a:ext cx="1920240" cy="310896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5" name="Card icon 3 circle"/>
          <p:cNvSpPr/>
          <p:nvPr/>
        </p:nvSpPr>
        <p:spPr>
          <a:xfrm>
            <a:off x="4892040" y="155448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Card icon 3" descr="FaPol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6574" y="1709014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892040" y="23317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Questionáriu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4892040" y="2971800"/>
            <a:ext cx="1463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Pergunta hanesan ba ema barak. Di'ak atu hetan númeru.</a:t>
            </a:r>
            <a:endParaRPr lang="en-US" sz="1400" dirty="0"/>
          </a:p>
        </p:txBody>
      </p:sp>
      <p:sp>
        <p:nvSpPr>
          <p:cNvPr id="19" name="Card 4"/>
          <p:cNvSpPr/>
          <p:nvPr/>
        </p:nvSpPr>
        <p:spPr>
          <a:xfrm>
            <a:off x="6766560" y="1325880"/>
            <a:ext cx="1920240" cy="310896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0" name="Card icon 4 circle"/>
          <p:cNvSpPr/>
          <p:nvPr/>
        </p:nvSpPr>
        <p:spPr>
          <a:xfrm>
            <a:off x="6995160" y="155448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Card icon 4" descr="FaUs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9694" y="1709014"/>
            <a:ext cx="285293" cy="28529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995160" y="23317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Diskusaun grupu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995160" y="2971800"/>
            <a:ext cx="1463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Ema 6–10 fahe opiniaun kona-ba tópiku ida.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Pasu ba entrevista</a:t>
            </a:r>
            <a:endParaRPr lang="en-US" sz="3000" dirty="0"/>
          </a:p>
        </p:txBody>
      </p:sp>
      <p:sp>
        <p:nvSpPr>
          <p:cNvPr id="4" name="Step 1"/>
          <p:cNvSpPr/>
          <p:nvPr/>
        </p:nvSpPr>
        <p:spPr>
          <a:xfrm>
            <a:off x="457200" y="1371600"/>
            <a:ext cx="1499616" cy="27432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</p:sp>
      <p:sp>
        <p:nvSpPr>
          <p:cNvPr id="5" name="Number 1"/>
          <p:cNvSpPr/>
          <p:nvPr/>
        </p:nvSpPr>
        <p:spPr>
          <a:xfrm>
            <a:off x="621792" y="15361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21792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212140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Prepara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743200"/>
            <a:ext cx="1170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Hatene objetivu, hili fatin kalma.</a:t>
            </a:r>
            <a:endParaRPr lang="en-US" sz="1400" dirty="0"/>
          </a:p>
        </p:txBody>
      </p:sp>
      <p:sp>
        <p:nvSpPr>
          <p:cNvPr id="9" name="Arrow 1"/>
          <p:cNvSpPr/>
          <p:nvPr/>
        </p:nvSpPr>
        <p:spPr>
          <a:xfrm rot="5400000">
            <a:off x="1975104" y="2651760"/>
            <a:ext cx="146304" cy="182880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0" name="Step 2"/>
          <p:cNvSpPr/>
          <p:nvPr/>
        </p:nvSpPr>
        <p:spPr>
          <a:xfrm>
            <a:off x="2139696" y="1371600"/>
            <a:ext cx="1499616" cy="27432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</p:sp>
      <p:sp>
        <p:nvSpPr>
          <p:cNvPr id="11" name="Number 2"/>
          <p:cNvSpPr/>
          <p:nvPr/>
        </p:nvSpPr>
        <p:spPr>
          <a:xfrm>
            <a:off x="2304288" y="153619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304288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304288" y="212140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Konsentimentu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304288" y="2743200"/>
            <a:ext cx="1170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Esplika no husu lisensa.</a:t>
            </a:r>
            <a:endParaRPr lang="en-US" sz="1400" dirty="0"/>
          </a:p>
        </p:txBody>
      </p:sp>
      <p:sp>
        <p:nvSpPr>
          <p:cNvPr id="15" name="Arrow 2"/>
          <p:cNvSpPr/>
          <p:nvPr/>
        </p:nvSpPr>
        <p:spPr>
          <a:xfrm rot="5400000">
            <a:off x="3657600" y="2651760"/>
            <a:ext cx="146304" cy="182880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6" name="Step 3"/>
          <p:cNvSpPr/>
          <p:nvPr/>
        </p:nvSpPr>
        <p:spPr>
          <a:xfrm>
            <a:off x="3822192" y="1371600"/>
            <a:ext cx="1499616" cy="27432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</p:sp>
      <p:sp>
        <p:nvSpPr>
          <p:cNvPr id="17" name="Number 3"/>
          <p:cNvSpPr/>
          <p:nvPr/>
        </p:nvSpPr>
        <p:spPr>
          <a:xfrm>
            <a:off x="3986784" y="1536192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986784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3986784" y="212140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Husu no rona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986784" y="2743200"/>
            <a:ext cx="1170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Husu pergunta loke, la lidera.</a:t>
            </a:r>
            <a:endParaRPr lang="en-US" sz="1400" dirty="0"/>
          </a:p>
        </p:txBody>
      </p:sp>
      <p:sp>
        <p:nvSpPr>
          <p:cNvPr id="21" name="Arrow 3"/>
          <p:cNvSpPr/>
          <p:nvPr/>
        </p:nvSpPr>
        <p:spPr>
          <a:xfrm rot="5400000">
            <a:off x="5340096" y="2651760"/>
            <a:ext cx="146304" cy="182880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22" name="Step 4"/>
          <p:cNvSpPr/>
          <p:nvPr/>
        </p:nvSpPr>
        <p:spPr>
          <a:xfrm>
            <a:off x="5504688" y="1371600"/>
            <a:ext cx="1499616" cy="27432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</p:sp>
      <p:sp>
        <p:nvSpPr>
          <p:cNvPr id="23" name="Number 4"/>
          <p:cNvSpPr/>
          <p:nvPr/>
        </p:nvSpPr>
        <p:spPr>
          <a:xfrm>
            <a:off x="5669280" y="1536192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66928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5669280" y="212140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Hakerek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0" y="2743200"/>
            <a:ext cx="1170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Rejista resposta loloos.</a:t>
            </a:r>
            <a:endParaRPr lang="en-US" sz="1400" dirty="0"/>
          </a:p>
        </p:txBody>
      </p:sp>
      <p:sp>
        <p:nvSpPr>
          <p:cNvPr id="27" name="Arrow 4"/>
          <p:cNvSpPr/>
          <p:nvPr/>
        </p:nvSpPr>
        <p:spPr>
          <a:xfrm rot="5400000">
            <a:off x="7022592" y="2651760"/>
            <a:ext cx="146304" cy="182880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28" name="Step 5"/>
          <p:cNvSpPr/>
          <p:nvPr/>
        </p:nvSpPr>
        <p:spPr>
          <a:xfrm>
            <a:off x="7187184" y="1371600"/>
            <a:ext cx="1499616" cy="27432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</p:sp>
      <p:sp>
        <p:nvSpPr>
          <p:cNvPr id="29" name="Number 5"/>
          <p:cNvSpPr/>
          <p:nvPr/>
        </p:nvSpPr>
        <p:spPr>
          <a:xfrm>
            <a:off x="7351776" y="1536192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351776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351776" y="212140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Taka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351776" y="2743200"/>
            <a:ext cx="1170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Rezumu no agradese.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Pergunta ne'ebé di'ak</a:t>
            </a:r>
            <a:endParaRPr lang="en-US" sz="3000" dirty="0"/>
          </a:p>
        </p:txBody>
      </p:sp>
      <p:sp>
        <p:nvSpPr>
          <p:cNvPr id="4" name="Left card"/>
          <p:cNvSpPr/>
          <p:nvPr/>
        </p:nvSpPr>
        <p:spPr>
          <a:xfrm>
            <a:off x="457200" y="1325880"/>
            <a:ext cx="402336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5270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Pergunta la di'ak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05740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Lidera: “Ita lakon rai tanba governu, loos?”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Taka: “Ita iha títulu?” (sim/lae de'it)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Komplikadu: pergunta tolu iha ida de'it</a:t>
            </a:r>
            <a:endParaRPr lang="en-US" sz="1500" dirty="0"/>
          </a:p>
        </p:txBody>
      </p:sp>
      <p:sp>
        <p:nvSpPr>
          <p:cNvPr id="7" name="Right card"/>
          <p:cNvSpPr/>
          <p:nvPr/>
        </p:nvSpPr>
        <p:spPr>
          <a:xfrm>
            <a:off x="4663440" y="1325880"/>
            <a:ext cx="402336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937760" y="15270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Pergunta di'ak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205740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Loke: “Oinsá ita esplika situasaun rai ne'e?”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Klaru: “Dokumentu saida mak ita iha kona-ba rai ne'e?”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Simples: pergunta ida ba dala ida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Étika rekolla dadus</a:t>
            </a:r>
            <a:endParaRPr lang="en-US" sz="3000" dirty="0"/>
          </a:p>
        </p:txBody>
      </p:sp>
      <p:sp>
        <p:nvSpPr>
          <p:cNvPr id="4" name="Row icon 1 circle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Row icon 1" descr="FaHandshak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" y="1410919"/>
            <a:ext cx="241402" cy="24140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88720" y="12618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Konsentimentu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1188720" y="1554480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Esplika objetivu no husu lisensa molok hahú rekolla dadus.</a:t>
            </a:r>
            <a:endParaRPr lang="en-US" sz="1500" dirty="0"/>
          </a:p>
        </p:txBody>
      </p:sp>
      <p:sp>
        <p:nvSpPr>
          <p:cNvPr id="8" name="Row icon 2 circle"/>
          <p:cNvSpPr/>
          <p:nvPr/>
        </p:nvSpPr>
        <p:spPr>
          <a:xfrm>
            <a:off x="457200" y="21031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Row icon 2" descr="Fa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" y="2233879"/>
            <a:ext cx="241402" cy="24140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88720" y="20848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Konfidensialidade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1188720" y="2377440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Naran no informasaun pesoál la fahe ba ema seluk.</a:t>
            </a:r>
            <a:endParaRPr lang="en-US" sz="1500" dirty="0"/>
          </a:p>
        </p:txBody>
      </p:sp>
      <p:sp>
        <p:nvSpPr>
          <p:cNvPr id="12" name="Row icon 3 circle"/>
          <p:cNvSpPr/>
          <p:nvPr/>
        </p:nvSpPr>
        <p:spPr>
          <a:xfrm>
            <a:off x="457200" y="29260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Row icon 3" descr="FaUserShiel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3056839"/>
            <a:ext cx="241402" cy="24140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88720" y="290779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La halo prejuízu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1188720" y="3200400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Pergunta sensível ho respeitu, liuliu ba feto no ema vulnerável.</a:t>
            </a:r>
            <a:endParaRPr lang="en-US" sz="1500" dirty="0"/>
          </a:p>
        </p:txBody>
      </p:sp>
      <p:sp>
        <p:nvSpPr>
          <p:cNvPr id="16" name="Row icon 4 circle"/>
          <p:cNvSpPr/>
          <p:nvPr/>
        </p:nvSpPr>
        <p:spPr>
          <a:xfrm>
            <a:off x="457200" y="374904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Row icon 4" descr="FaCheckCirc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" y="3879799"/>
            <a:ext cx="241402" cy="24140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188720" y="37307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Loloos</a:t>
            </a:r>
            <a:endParaRPr lang="en-US" sz="1700" dirty="0"/>
          </a:p>
        </p:txBody>
      </p:sp>
      <p:sp>
        <p:nvSpPr>
          <p:cNvPr id="19" name="Text 12"/>
          <p:cNvSpPr txBox="1"/>
          <p:nvPr/>
        </p:nvSpPr>
        <p:spPr>
          <a:xfrm>
            <a:off x="1188720" y="4023360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Hakerek tuir saida ema hatete. La muda, la aumenta.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Dezenvolve formuláriu</a:t>
            </a:r>
            <a:endParaRPr lang="en-US" sz="3000" dirty="0"/>
          </a:p>
        </p:txBody>
      </p:sp>
      <p:sp>
        <p:nvSpPr>
          <p:cNvPr id="4" name="Step 1"/>
          <p:cNvSpPr/>
          <p:nvPr/>
        </p:nvSpPr>
        <p:spPr>
          <a:xfrm>
            <a:off x="457200" y="1371600"/>
            <a:ext cx="1499616" cy="27432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</p:sp>
      <p:sp>
        <p:nvSpPr>
          <p:cNvPr id="5" name="Number 1"/>
          <p:cNvSpPr/>
          <p:nvPr/>
        </p:nvSpPr>
        <p:spPr>
          <a:xfrm>
            <a:off x="621792" y="15361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21792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212140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Define objetivu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743200"/>
            <a:ext cx="1170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 saida mak dadus ne'e?</a:t>
            </a:r>
            <a:endParaRPr lang="en-US" sz="1400" dirty="0"/>
          </a:p>
        </p:txBody>
      </p:sp>
      <p:sp>
        <p:nvSpPr>
          <p:cNvPr id="9" name="Arrow 1"/>
          <p:cNvSpPr/>
          <p:nvPr/>
        </p:nvSpPr>
        <p:spPr>
          <a:xfrm rot="5400000">
            <a:off x="1975104" y="2651760"/>
            <a:ext cx="146304" cy="182880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0" name="Step 2"/>
          <p:cNvSpPr/>
          <p:nvPr/>
        </p:nvSpPr>
        <p:spPr>
          <a:xfrm>
            <a:off x="2139696" y="1371600"/>
            <a:ext cx="1499616" cy="27432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</p:sp>
      <p:sp>
        <p:nvSpPr>
          <p:cNvPr id="11" name="Number 2"/>
          <p:cNvSpPr/>
          <p:nvPr/>
        </p:nvSpPr>
        <p:spPr>
          <a:xfrm>
            <a:off x="2304288" y="153619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304288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304288" y="212140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Lista informasaun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304288" y="2743200"/>
            <a:ext cx="1170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Dadus saida mak presiza?</a:t>
            </a:r>
            <a:endParaRPr lang="en-US" sz="1400" dirty="0"/>
          </a:p>
        </p:txBody>
      </p:sp>
      <p:sp>
        <p:nvSpPr>
          <p:cNvPr id="15" name="Arrow 2"/>
          <p:cNvSpPr/>
          <p:nvPr/>
        </p:nvSpPr>
        <p:spPr>
          <a:xfrm rot="5400000">
            <a:off x="3657600" y="2651760"/>
            <a:ext cx="146304" cy="182880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6" name="Step 3"/>
          <p:cNvSpPr/>
          <p:nvPr/>
        </p:nvSpPr>
        <p:spPr>
          <a:xfrm>
            <a:off x="3822192" y="1371600"/>
            <a:ext cx="1499616" cy="27432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</p:sp>
      <p:sp>
        <p:nvSpPr>
          <p:cNvPr id="17" name="Number 3"/>
          <p:cNvSpPr/>
          <p:nvPr/>
        </p:nvSpPr>
        <p:spPr>
          <a:xfrm>
            <a:off x="3986784" y="1536192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986784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3986784" y="212140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Hakerek pergunta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986784" y="2743200"/>
            <a:ext cx="1170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Klaru no badak.</a:t>
            </a:r>
            <a:endParaRPr lang="en-US" sz="1400" dirty="0"/>
          </a:p>
        </p:txBody>
      </p:sp>
      <p:sp>
        <p:nvSpPr>
          <p:cNvPr id="21" name="Arrow 3"/>
          <p:cNvSpPr/>
          <p:nvPr/>
        </p:nvSpPr>
        <p:spPr>
          <a:xfrm rot="5400000">
            <a:off x="5340096" y="2651760"/>
            <a:ext cx="146304" cy="182880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22" name="Step 4"/>
          <p:cNvSpPr/>
          <p:nvPr/>
        </p:nvSpPr>
        <p:spPr>
          <a:xfrm>
            <a:off x="5504688" y="1371600"/>
            <a:ext cx="1499616" cy="27432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</p:sp>
      <p:sp>
        <p:nvSpPr>
          <p:cNvPr id="23" name="Number 4"/>
          <p:cNvSpPr/>
          <p:nvPr/>
        </p:nvSpPr>
        <p:spPr>
          <a:xfrm>
            <a:off x="5669280" y="1536192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66928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5669280" y="212140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Organiza seksaun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0" y="2743200"/>
            <a:ext cx="1170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Grupu tuir tema.</a:t>
            </a:r>
            <a:endParaRPr lang="en-US" sz="1400" dirty="0"/>
          </a:p>
        </p:txBody>
      </p:sp>
      <p:sp>
        <p:nvSpPr>
          <p:cNvPr id="27" name="Arrow 4"/>
          <p:cNvSpPr/>
          <p:nvPr/>
        </p:nvSpPr>
        <p:spPr>
          <a:xfrm rot="5400000">
            <a:off x="7022592" y="2651760"/>
            <a:ext cx="146304" cy="182880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28" name="Step 5"/>
          <p:cNvSpPr/>
          <p:nvPr/>
        </p:nvSpPr>
        <p:spPr>
          <a:xfrm>
            <a:off x="7187184" y="1371600"/>
            <a:ext cx="1499616" cy="27432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</p:sp>
      <p:sp>
        <p:nvSpPr>
          <p:cNvPr id="29" name="Number 5"/>
          <p:cNvSpPr/>
          <p:nvPr/>
        </p:nvSpPr>
        <p:spPr>
          <a:xfrm>
            <a:off x="7351776" y="1536192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351776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351776" y="212140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Teste no hadi'a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351776" y="2743200"/>
            <a:ext cx="1170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Koko ho ema 2–3.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Formuláriu dokumentasaun kazu</a:t>
            </a:r>
            <a:endParaRPr lang="en-US" sz="3000" dirty="0"/>
          </a:p>
        </p:txBody>
      </p:sp>
      <p:sp>
        <p:nvSpPr>
          <p:cNvPr id="4" name="Formuláriu"/>
          <p:cNvSpPr/>
          <p:nvPr/>
        </p:nvSpPr>
        <p:spPr>
          <a:xfrm>
            <a:off x="457200" y="1280160"/>
            <a:ext cx="521208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B7C4B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371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FORMULÁRIU DOKUMENTASAUN KAZU RAI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78308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Kodigu kazu: K-___  Data: __/__/____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A. Identidade: naran, idade, seksu, kontaktu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B. Rai: suku, aldeia, área (ha), uzu rai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C. Istória: kauza, data, ema involve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D. Evidénsia: sertidaun, foto, testemuña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E. Asaun foti ona no rezultadu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F. Konsentimentu: ☐ Sim   ☐ Lae</a:t>
            </a:r>
            <a:endParaRPr lang="en-US" sz="1400" dirty="0"/>
          </a:p>
        </p:txBody>
      </p:sp>
      <p:sp>
        <p:nvSpPr>
          <p:cNvPr id="7" name="Nota"/>
          <p:cNvSpPr/>
          <p:nvPr/>
        </p:nvSpPr>
        <p:spPr>
          <a:xfrm>
            <a:off x="5943600" y="1280160"/>
            <a:ext cx="2743200" cy="3337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8" name="Nota icon circle"/>
          <p:cNvSpPr/>
          <p:nvPr/>
        </p:nvSpPr>
        <p:spPr>
          <a:xfrm>
            <a:off x="6172200" y="150876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Nota icon" descr="Fa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4846" y="1651406"/>
            <a:ext cx="263347" cy="26334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17220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Kodigu úniku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172200" y="256032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Kazu ida-idak iha kodigu úniku (ez: K-001) atu evita naran dobru no proteje identidade.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Formuláriu ne'ebé di'ak</a:t>
            </a:r>
            <a:endParaRPr lang="en-US" sz="3000" dirty="0"/>
          </a:p>
        </p:txBody>
      </p:sp>
      <p:sp>
        <p:nvSpPr>
          <p:cNvPr id="4" name="Row icon 1 circle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Row icon 1" descr="FaCheck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" y="1410919"/>
            <a:ext cx="241402" cy="24140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88720" y="12618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Pergunta klaru no badak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1188720" y="1554480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Ema hotu komprende maneira hanesan.</a:t>
            </a:r>
            <a:endParaRPr lang="en-US" sz="1500" dirty="0"/>
          </a:p>
        </p:txBody>
      </p:sp>
      <p:sp>
        <p:nvSpPr>
          <p:cNvPr id="8" name="Row icon 2 circle"/>
          <p:cNvSpPr/>
          <p:nvPr/>
        </p:nvSpPr>
        <p:spPr>
          <a:xfrm>
            <a:off x="457200" y="21031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Row icon 2" descr="FaCheckCir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" y="2233879"/>
            <a:ext cx="241402" cy="24140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88720" y="20848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Opsaun resposta hanesan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1188720" y="2377440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Ez: Sim / Lae / La hatene, hodi fasil atu hatama iha Excel.</a:t>
            </a:r>
            <a:endParaRPr lang="en-US" sz="1500" dirty="0"/>
          </a:p>
        </p:txBody>
      </p:sp>
      <p:sp>
        <p:nvSpPr>
          <p:cNvPr id="12" name="Row icon 3 circle"/>
          <p:cNvSpPr/>
          <p:nvPr/>
        </p:nvSpPr>
        <p:spPr>
          <a:xfrm>
            <a:off x="457200" y="29260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Row icon 3" descr="FaCheckCir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3056839"/>
            <a:ext cx="241402" cy="24140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88720" y="290779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Formatu data hanesan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1188720" y="3200400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Uza DD/MM/AAAA hodi evita konfuzaun.</a:t>
            </a:r>
            <a:endParaRPr lang="en-US" sz="1500" dirty="0"/>
          </a:p>
        </p:txBody>
      </p:sp>
      <p:sp>
        <p:nvSpPr>
          <p:cNvPr id="16" name="Row icon 4 circle"/>
          <p:cNvSpPr/>
          <p:nvPr/>
        </p:nvSpPr>
        <p:spPr>
          <a:xfrm>
            <a:off x="457200" y="374904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Row icon 4" descr="FaCheckCirc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" y="3879799"/>
            <a:ext cx="241402" cy="24140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188720" y="37307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Husu de'it saida mak presiza</a:t>
            </a:r>
            <a:endParaRPr lang="en-US" sz="1700" dirty="0"/>
          </a:p>
        </p:txBody>
      </p:sp>
      <p:sp>
        <p:nvSpPr>
          <p:cNvPr id="19" name="Text 12"/>
          <p:cNvSpPr txBox="1"/>
          <p:nvPr/>
        </p:nvSpPr>
        <p:spPr>
          <a:xfrm>
            <a:off x="1188720" y="4023360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Pergunta barak liu halo ema kansa no aumenta risku ba konfidensialidade.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Ezersísiu grupu</a:t>
            </a:r>
            <a:endParaRPr lang="en-US" sz="3000" dirty="0"/>
          </a:p>
        </p:txBody>
      </p:sp>
      <p:sp>
        <p:nvSpPr>
          <p:cNvPr id="4" name="Stat panel"/>
          <p:cNvSpPr/>
          <p:nvPr/>
        </p:nvSpPr>
        <p:spPr>
          <a:xfrm>
            <a:off x="457200" y="1325880"/>
            <a:ext cx="2743200" cy="310896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6916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accent3"/>
                </a:solidFill>
              </a:rPr>
              <a:t>60</a:t>
            </a:r>
            <a:endParaRPr lang="en-US" sz="8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718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minutu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Halo formuláriu dokumentasaun kazu rai</a:t>
            </a:r>
            <a:endParaRPr lang="en-US" sz="1600" dirty="0"/>
          </a:p>
        </p:txBody>
      </p:sp>
      <p:sp>
        <p:nvSpPr>
          <p:cNvPr id="7" name="Number 1"/>
          <p:cNvSpPr/>
          <p:nvPr/>
        </p:nvSpPr>
        <p:spPr>
          <a:xfrm>
            <a:off x="3566160" y="13716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6616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160520" y="135331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Fahe iha grupu ho ema 4–5</a:t>
            </a:r>
            <a:endParaRPr lang="en-US" sz="1500" dirty="0"/>
          </a:p>
        </p:txBody>
      </p:sp>
      <p:sp>
        <p:nvSpPr>
          <p:cNvPr id="10" name="Number 2"/>
          <p:cNvSpPr/>
          <p:nvPr/>
        </p:nvSpPr>
        <p:spPr>
          <a:xfrm>
            <a:off x="3566160" y="201168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56616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160520" y="199339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Hili kazu ezemplu (ez: eviksaun ka disputa limite)</a:t>
            </a:r>
            <a:endParaRPr lang="en-US" sz="1500" dirty="0"/>
          </a:p>
        </p:txBody>
      </p:sp>
      <p:sp>
        <p:nvSpPr>
          <p:cNvPr id="13" name="Number 3"/>
          <p:cNvSpPr/>
          <p:nvPr/>
        </p:nvSpPr>
        <p:spPr>
          <a:xfrm>
            <a:off x="3566160" y="265176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56616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160520" y="263347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Dezenvolve formuláriu tuir pasu sira ne'ebé aprende</a:t>
            </a:r>
            <a:endParaRPr lang="en-US" sz="1500" dirty="0"/>
          </a:p>
        </p:txBody>
      </p:sp>
      <p:sp>
        <p:nvSpPr>
          <p:cNvPr id="16" name="Number 4"/>
          <p:cNvSpPr/>
          <p:nvPr/>
        </p:nvSpPr>
        <p:spPr>
          <a:xfrm>
            <a:off x="3566160" y="329184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56616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160520" y="327355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Troka formuláriu ho grupu seluk, fó komentáriu</a:t>
            </a:r>
            <a:endParaRPr lang="en-US" sz="1500" dirty="0"/>
          </a:p>
        </p:txBody>
      </p:sp>
      <p:sp>
        <p:nvSpPr>
          <p:cNvPr id="19" name="Number 5"/>
          <p:cNvSpPr/>
          <p:nvPr/>
        </p:nvSpPr>
        <p:spPr>
          <a:xfrm>
            <a:off x="3566160" y="3931920"/>
            <a:ext cx="411480" cy="4114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56616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160520" y="391363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Hadi'a no aprezenta ba plenária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Rezumu loron 1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280160"/>
            <a:ext cx="259080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5" name="Card icon 1 circle"/>
          <p:cNvSpPr/>
          <p:nvPr/>
        </p:nvSpPr>
        <p:spPr>
          <a:xfrm>
            <a:off x="685800" y="15087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ard icon 1" descr="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334" y="166329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2286000"/>
            <a:ext cx="213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Dadus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926080"/>
            <a:ext cx="213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Dadus tenke organiza atu sai informasaun ne'ebé útil.</a:t>
            </a:r>
            <a:endParaRPr lang="en-US" sz="1400" dirty="0"/>
          </a:p>
        </p:txBody>
      </p:sp>
      <p:sp>
        <p:nvSpPr>
          <p:cNvPr id="9" name="Card 2"/>
          <p:cNvSpPr/>
          <p:nvPr/>
        </p:nvSpPr>
        <p:spPr>
          <a:xfrm>
            <a:off x="3276600" y="1280160"/>
            <a:ext cx="259080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10" name="Card icon 2 circle"/>
          <p:cNvSpPr/>
          <p:nvPr/>
        </p:nvSpPr>
        <p:spPr>
          <a:xfrm>
            <a:off x="3505200" y="150876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Card icon 2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734" y="166329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05200" y="2286000"/>
            <a:ext cx="213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Métodu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3505200" y="2926080"/>
            <a:ext cx="213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Hili métodu tuir objetivu no kondisaun terrenu.</a:t>
            </a:r>
            <a:endParaRPr lang="en-US" sz="1400" dirty="0"/>
          </a:p>
        </p:txBody>
      </p:sp>
      <p:sp>
        <p:nvSpPr>
          <p:cNvPr id="14" name="Card 3"/>
          <p:cNvSpPr/>
          <p:nvPr/>
        </p:nvSpPr>
        <p:spPr>
          <a:xfrm>
            <a:off x="6096000" y="1280160"/>
            <a:ext cx="259080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15" name="Card icon 3 circle"/>
          <p:cNvSpPr/>
          <p:nvPr/>
        </p:nvSpPr>
        <p:spPr>
          <a:xfrm>
            <a:off x="6324600" y="150876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Card icon 3" descr="FaClipboardLi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134" y="1663294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24600" y="2286000"/>
            <a:ext cx="213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Formuláriu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6324600" y="2926080"/>
            <a:ext cx="213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Instrumentu di'ak hodi hetan dadus ne'ebé loos.</a:t>
            </a:r>
            <a:endParaRPr lang="en-US" sz="1400" dirty="0"/>
          </a:p>
        </p:txBody>
      </p:sp>
      <p:sp>
        <p:nvSpPr>
          <p:cNvPr id="19" name="Loron tuir mai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Aban (loron 2): input dadus iha Excel, verifikasaun no kualidade dadus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SI RbR Formasaun">
  <a:themeElements>
    <a:clrScheme name="KSI RbR Formasaun">
      <a:dk1>
        <a:srgbClr val="17261F"/>
      </a:dk1>
      <a:lt1>
        <a:srgbClr val="FFFFFF"/>
      </a:lt1>
      <a:dk2>
        <a:srgbClr val="1F4D3A"/>
      </a:dk2>
      <a:lt2>
        <a:srgbClr val="E9F0EC"/>
      </a:lt2>
      <a:accent1>
        <a:srgbClr val="C8553D"/>
      </a:accent1>
      <a:accent2>
        <a:srgbClr val="2E7D5B"/>
      </a:accent2>
      <a:accent3>
        <a:srgbClr val="D99A1E"/>
      </a:accent3>
      <a:accent4>
        <a:srgbClr val="3C6E8F"/>
      </a:accent4>
      <a:accent5>
        <a:srgbClr val="8A5A44"/>
      </a:accent5>
      <a:accent6>
        <a:srgbClr val="5F746B"/>
      </a:accent6>
      <a:hlink>
        <a:srgbClr val="3C6E8F"/>
      </a:hlink>
      <a:folHlink>
        <a:srgbClr val="8A5A44"/>
      </a:folHlink>
    </a:clrScheme>
    <a:fontScheme name="KSI RbR Formasau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Loron 1 – Rekolla Dadus no Instrumentu</dc:title>
  <dc:subject>PptxGenJS Presentation</dc:subject>
  <dc:creator>KSI – Rede ba Rai</dc:creator>
  <cp:lastModifiedBy>KSI – Rede ba Rai</cp:lastModifiedBy>
  <cp:revision>1</cp:revision>
  <dcterms:created xsi:type="dcterms:W3CDTF">2026-10-13T01:57:36Z</dcterms:created>
  <dcterms:modified xsi:type="dcterms:W3CDTF">2026-10-13T01:57:36Z</dcterms:modified>
</cp:coreProperties>
</file>