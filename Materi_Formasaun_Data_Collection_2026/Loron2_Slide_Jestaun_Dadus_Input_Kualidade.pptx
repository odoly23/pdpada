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ron 2" id="{5ec1c1bd-8182-a55c-6715-a862ac41bdb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Hahú ho rekapitulasaun badak husi loron 1 (30 minutu): dadus, métodu rekolla no formuláriu.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Lori objetivu 3. Hatudu katak ohin ita hahú uza komputador.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agenda no esplika ke ohin prátika barak liu.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Dadus iha ‘vida’: hahú husi rekolla to'o arkiva. Erru iha pasu ida afeta pasu sira tuir mai.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regra ne'e antes loke Excel. Lori ezemplu tabela iha slide tuir mai.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katak tabela ne'e linear no fasil atu filtra, soma no analiza.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Hili ferramenta tuir ekipamentu no internet. Ohin ita prátika liuliu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 ba ida-idak iha projetór. Husu partisipante sira atu halo tuir.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Halo ho kolektivu: fasilitadór input ida, partisipante sira tuir.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 partisipante sira atu fó ezemplu erru ne'ebé sira hasoru 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katak verifikasaun la'ós hatudu ema nia sala, maibé hadi'a dadus.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Husu: ‘dadus ida-ne'ebé ita nia organizasaun uza ona hatudu dimensaun ne'e?’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Enfatiza: dadus kazu rai kontein informasaun sensível. Proteje dadus = proteje 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Fasilitadór fó 10 formuláriu kazu ezemplu (fiktísiu). Lori tempu ba diskusaun.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Husu partisipante sira atu hatán ‘saida mak ita sei aplika iha servisu?’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KSI · Rede ba Rai  |  Formasaun Rekolla no Jestaun Dadus  ·  19–21 Outubru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1"/>
          <p:cNvSpPr/>
          <p:nvPr/>
        </p:nvSpPr>
        <p:spPr>
          <a:xfrm>
            <a:off x="6583680" y="237744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Motif 2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Motif 3"/>
          <p:cNvSpPr/>
          <p:nvPr/>
        </p:nvSpPr>
        <p:spPr>
          <a:xfrm>
            <a:off x="5760720" y="4023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Jestaun Dadus, Input no Kontrolu Kualidade</a:t>
            </a:r>
            <a:endParaRPr lang="en-US" sz="34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Formasaun Rekolla no Jestaun Dadus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KSI – Rede ba Rai (RbR)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31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LORON 2  ·  TERSA-FEIRA, 20 OUTUBRU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Fasilitadór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Objetivu loron 2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Organiza dadus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Hatene oinsá organiza baze dadus ne'ebé simples no loos.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FileExc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Input no verifika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Bele hatama dadus iha Excel no verifika erru.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Proteje dadus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Komprende kualidade, konfidensialidade no seguransa dadus.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 loron 2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Oras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Atividade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08:30–09:00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Rekapitulasaun loron dahuluk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09:00–10:30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Prinsípiu jestaun dadus no organizasaun baze dadus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10:45–12:00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Introdusaun ba Excel no ferramenta dijitál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13:00–14:30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Prátika input dadus no verifikasaun informasaun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14:30–15:15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Kualidade dadus, konfidensialidade no seguransa informasaun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15:15–16:00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Ezersísiu prátiku no diskusaun grupu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Deskansu 10:30–10:45  ·  Almosu 12:00–13:00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Siklu vida dadus</a:t>
            </a:r>
            <a:endParaRPr lang="en-US" sz="3000" dirty="0"/>
          </a:p>
        </p:txBody>
      </p:sp>
      <p:sp>
        <p:nvSpPr>
          <p:cNvPr id="4" name="Siklu 1"/>
          <p:cNvSpPr/>
          <p:nvPr/>
        </p:nvSpPr>
        <p:spPr>
          <a:xfrm>
            <a:off x="457200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5" name="Siklu icon 1 circle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iklu icon 1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Rekolla</a:t>
            </a:r>
            <a:endParaRPr lang="en-US" sz="1600" dirty="0"/>
          </a:p>
        </p:txBody>
      </p:sp>
      <p:sp>
        <p:nvSpPr>
          <p:cNvPr id="8" name="Seta 1"/>
          <p:cNvSpPr/>
          <p:nvPr/>
        </p:nvSpPr>
        <p:spPr>
          <a:xfrm rot="5400000">
            <a:off x="1682496" y="224028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9" name="Siklu 2"/>
          <p:cNvSpPr/>
          <p:nvPr/>
        </p:nvSpPr>
        <p:spPr>
          <a:xfrm>
            <a:off x="1865376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Siklu icon 2 circle"/>
          <p:cNvSpPr/>
          <p:nvPr/>
        </p:nvSpPr>
        <p:spPr>
          <a:xfrm>
            <a:off x="2139696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Siklu icon 2" descr="FaCloudUploa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17" y="181234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65376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</a:t>
            </a:r>
            <a:endParaRPr lang="en-US" sz="1600" dirty="0"/>
          </a:p>
        </p:txBody>
      </p:sp>
      <p:sp>
        <p:nvSpPr>
          <p:cNvPr id="13" name="Seta 2"/>
          <p:cNvSpPr/>
          <p:nvPr/>
        </p:nvSpPr>
        <p:spPr>
          <a:xfrm rot="5400000">
            <a:off x="3090672" y="224028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4" name="Siklu 3"/>
          <p:cNvSpPr/>
          <p:nvPr/>
        </p:nvSpPr>
        <p:spPr>
          <a:xfrm>
            <a:off x="3273552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5" name="Siklu icon 3 circle"/>
          <p:cNvSpPr/>
          <p:nvPr/>
        </p:nvSpPr>
        <p:spPr>
          <a:xfrm>
            <a:off x="3547872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Siklu icon 3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93" y="181234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273552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Verifika</a:t>
            </a:r>
            <a:endParaRPr lang="en-US" sz="1600" dirty="0"/>
          </a:p>
        </p:txBody>
      </p:sp>
      <p:sp>
        <p:nvSpPr>
          <p:cNvPr id="18" name="Seta 3"/>
          <p:cNvSpPr/>
          <p:nvPr/>
        </p:nvSpPr>
        <p:spPr>
          <a:xfrm rot="5400000">
            <a:off x="4498848" y="224028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9" name="Siklu 4"/>
          <p:cNvSpPr/>
          <p:nvPr/>
        </p:nvSpPr>
        <p:spPr>
          <a:xfrm>
            <a:off x="4681728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0" name="Siklu icon 4 circle"/>
          <p:cNvSpPr/>
          <p:nvPr/>
        </p:nvSpPr>
        <p:spPr>
          <a:xfrm>
            <a:off x="4956048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Siklu icon 4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469" y="181234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8172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Rai</a:t>
            </a:r>
            <a:endParaRPr lang="en-US" sz="1600" dirty="0"/>
          </a:p>
        </p:txBody>
      </p:sp>
      <p:sp>
        <p:nvSpPr>
          <p:cNvPr id="23" name="Seta 4"/>
          <p:cNvSpPr/>
          <p:nvPr/>
        </p:nvSpPr>
        <p:spPr>
          <a:xfrm rot="5400000">
            <a:off x="5907024" y="224028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4" name="Siklu 5"/>
          <p:cNvSpPr/>
          <p:nvPr/>
        </p:nvSpPr>
        <p:spPr>
          <a:xfrm>
            <a:off x="6089904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25" name="Siklu icon 5 circle"/>
          <p:cNvSpPr/>
          <p:nvPr/>
        </p:nvSpPr>
        <p:spPr>
          <a:xfrm>
            <a:off x="6364224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Siklu icon 5" descr="FaChart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645" y="1812341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089904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Uza</a:t>
            </a:r>
            <a:endParaRPr lang="en-US" sz="1600" dirty="0"/>
          </a:p>
        </p:txBody>
      </p:sp>
      <p:sp>
        <p:nvSpPr>
          <p:cNvPr id="28" name="Seta 5"/>
          <p:cNvSpPr/>
          <p:nvPr/>
        </p:nvSpPr>
        <p:spPr>
          <a:xfrm rot="5400000">
            <a:off x="7315200" y="224028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9" name="Siklu 6"/>
          <p:cNvSpPr/>
          <p:nvPr/>
        </p:nvSpPr>
        <p:spPr>
          <a:xfrm>
            <a:off x="7498080" y="1463040"/>
            <a:ext cx="1188720" cy="173736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0" name="Siklu icon 6 circle"/>
          <p:cNvSpPr/>
          <p:nvPr/>
        </p:nvSpPr>
        <p:spPr>
          <a:xfrm>
            <a:off x="7772400" y="16459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Siklu icon 6" descr="FaFolder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821" y="1812341"/>
            <a:ext cx="307238" cy="30723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498080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Arkiva</a:t>
            </a:r>
            <a:endParaRPr lang="en-US" sz="1600" dirty="0"/>
          </a:p>
        </p:txBody>
      </p:sp>
      <p:sp>
        <p:nvSpPr>
          <p:cNvPr id="33" name="Mensajen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Erru ki'ik iha pasu ida (ez: naran sala hakerek) bele halo análize no relatóriu sai la loos.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Organiza baze dadus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Kazu 1 = liña 1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Kazu ida-idak hetan liña ida de'it iha tabela.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Variável 1 = kolona 1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2316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Kolona ida-idak ba informasaun ida (ez: suku, data, tipu kazu).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99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Kodigu ID úniku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9184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Uza kodigu hanesan K-001 ba kazu ida-idak, la bele repete.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67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Formatu hanesan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DD/MM/AAAA, númeru la ho teksu, naran suku hakerek hanesan.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Ezemplu tabela baze dadus</a:t>
            </a:r>
            <a:endParaRPr lang="en-US" sz="3000" dirty="0"/>
          </a:p>
        </p:txBody>
      </p:sp>
      <p:graphicFrame>
        <p:nvGraphicFramePr>
          <p:cNvPr id="7" name="Tabela ezempl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371600"/>
                <a:gridCol w="192024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Suku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Tipu kazu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 (ha)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Estadu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K-001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12/03/2026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Becora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Disputa limite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Loke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K-002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15/03/2026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Hera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Eviksaun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Iha prosesu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K-003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02/04/2026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Comoro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Eransa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Loke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K-004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20/04/2026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Becora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Eviksaun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hatene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Taka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a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Dadus ezemplu atu aprende de'it. Kuandu la hatene, hakerek “La hatene”, la husik kolona mamuk.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Ferramenta dijitál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FileExc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Microsoft Excel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Tabela, funsaun no gráfiku. Bele uza la ho internet.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Wpfor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Google Forms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Formuláriu online ne'ebé fasil. Presiza internet.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Mob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KoboToolbox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Rekolla dadus iha terrenu ho telemovel, bele offline.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Excel: funsaun báziku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SortAmountD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Sort no Filter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Hatudu kazu ne'ebé ita buka de'it (ez: tipu “Eviksaun”).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Freeze Panes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2316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Kongela liña títulu atu bele haree kolona bainhira scroll.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99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 Validation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9184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Halo lista dropdown (Sim/Lae, naran suku) atu evita erru hakerek.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679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SUM no COUNTIF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74980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Ez: =COUNTIF(D:D,"Eviksaun") atu konta kazu eviksaun.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Pasu input dadus iha Excel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Hakerek títulu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Kolona ida-idak ho naran klaru.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1975104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2139696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304288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042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Hatama kodigu ID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K-001, K-002 …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3657600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3822192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3986784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8678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986784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Input liña ba liña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86784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Tuir formuláriu orijinál.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 rot="5400000">
            <a:off x="5340096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 4"/>
          <p:cNvSpPr/>
          <p:nvPr/>
        </p:nvSpPr>
        <p:spPr>
          <a:xfrm>
            <a:off x="5504688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3" name="Number 4"/>
          <p:cNvSpPr/>
          <p:nvPr/>
        </p:nvSpPr>
        <p:spPr>
          <a:xfrm>
            <a:off x="5669280" y="1536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692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0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Uza dropdown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 evita erru hakerek.</a:t>
            </a:r>
            <a:endParaRPr lang="en-US" sz="1400" dirty="0"/>
          </a:p>
        </p:txBody>
      </p:sp>
      <p:sp>
        <p:nvSpPr>
          <p:cNvPr id="27" name="Arrow 4"/>
          <p:cNvSpPr/>
          <p:nvPr/>
        </p:nvSpPr>
        <p:spPr>
          <a:xfrm rot="5400000">
            <a:off x="7022592" y="265176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8" name="Step 5"/>
          <p:cNvSpPr/>
          <p:nvPr/>
        </p:nvSpPr>
        <p:spPr>
          <a:xfrm>
            <a:off x="7187184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9" name="Number 5"/>
          <p:cNvSpPr/>
          <p:nvPr/>
        </p:nvSpPr>
        <p:spPr>
          <a:xfrm>
            <a:off x="7351776" y="153619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5177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351776" y="21214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Rai dala barak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351776" y="2743200"/>
            <a:ext cx="1170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no halo kópia backup.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Erru komún iha input</a:t>
            </a:r>
            <a:endParaRPr lang="en-US" sz="3000" dirty="0"/>
          </a:p>
        </p:txBody>
      </p:sp>
      <p:graphicFrame>
        <p:nvGraphicFramePr>
          <p:cNvPr id="11" name="Tabela err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108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Erru komún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Oinsá prevene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Naran suku hakerek diferente (Becora / becora / Bekora)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Uza lista dropdown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Formatu data mistura (12/3/26, 12 Marsu)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Uza formatu DD/MM/AAAA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Kolona mamuk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Hakerek “La hatene” la husik mamuk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Kazu input dala rua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Uza kodigu ID úniku no buka duplikadu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Verifikasaun dadus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Konfere ho orijinál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Foti amostra 10% husi formuláriu no kompara ho Excel.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278892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Cop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5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8892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Buka duplikadu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78892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Kazu ne'ebé input dala rua ho ID hanesan.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489204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7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9204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Valór estranhu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89204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idade 250 ka área 5000 ha.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Card icon 4 circle"/>
          <p:cNvSpPr/>
          <p:nvPr/>
        </p:nvSpPr>
        <p:spPr>
          <a:xfrm>
            <a:off x="6995160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Card icon 4" descr="Fa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94" y="170901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331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Konsistensia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9718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data eviksaun la bele sai molok data kazu rejistu.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Dimensaun kualidade dadus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1536192" cy="301752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788920"/>
            <a:ext cx="1078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Hanesan realidade.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2130552" y="1325880"/>
            <a:ext cx="1536192" cy="301752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2359152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686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359152" y="2331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Kompletu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359152" y="2788920"/>
            <a:ext cx="1078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falta informasaun.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3803904" y="1325880"/>
            <a:ext cx="1536192" cy="301752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4032504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038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32504" y="2331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Konsistente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032504" y="2788920"/>
            <a:ext cx="1078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Formatu hanesan.</a:t>
            </a:r>
            <a:endParaRPr lang="en-US" sz="1400" dirty="0"/>
          </a:p>
        </p:txBody>
      </p:sp>
      <p:sp>
        <p:nvSpPr>
          <p:cNvPr id="19" name="Card 4"/>
          <p:cNvSpPr/>
          <p:nvPr/>
        </p:nvSpPr>
        <p:spPr>
          <a:xfrm>
            <a:off x="5477256" y="1325880"/>
            <a:ext cx="1536192" cy="301752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20" name="Card icon 4 circle"/>
          <p:cNvSpPr/>
          <p:nvPr/>
        </p:nvSpPr>
        <p:spPr>
          <a:xfrm>
            <a:off x="5705856" y="15544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Card icon 4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170901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05856" y="2331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Atualizadu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05856" y="2788920"/>
            <a:ext cx="1078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 data foun.</a:t>
            </a:r>
            <a:endParaRPr lang="en-US" sz="1400" dirty="0"/>
          </a:p>
        </p:txBody>
      </p:sp>
      <p:sp>
        <p:nvSpPr>
          <p:cNvPr id="24" name="Card 5"/>
          <p:cNvSpPr/>
          <p:nvPr/>
        </p:nvSpPr>
        <p:spPr>
          <a:xfrm>
            <a:off x="7150608" y="1325880"/>
            <a:ext cx="1536192" cy="301752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</p:sp>
      <p:sp>
        <p:nvSpPr>
          <p:cNvPr id="25" name="Card icon 5 circle"/>
          <p:cNvSpPr/>
          <p:nvPr/>
        </p:nvSpPr>
        <p:spPr>
          <a:xfrm>
            <a:off x="7379208" y="15544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Card icon 5" descr="Fa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3742" y="170901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79208" y="23317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Úniku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379208" y="2788920"/>
            <a:ext cx="1078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repete.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Konfidensialidade no seguransa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16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Uza kodigu, la uza naran kompletu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08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Iha análize no relatóriu, uza kodigu ID atu proteje identidade.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191109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041855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Password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1854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Tau password iha file Excel no komputador.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Cop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718511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5694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Backup iha fatin 3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2862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Komputador, USB/disku eksternu no nuvem (cloud).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395167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246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Aksesu limitadu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3538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Ema ne'ebé presiza de'it mak bele loke dadus.</a:t>
            </a:r>
            <a:endParaRPr lang="en-US" sz="1500" dirty="0"/>
          </a:p>
        </p:txBody>
      </p:sp>
      <p:sp>
        <p:nvSpPr>
          <p:cNvPr id="20" name="Row icon 5 circle"/>
          <p:cNvSpPr/>
          <p:nvPr/>
        </p:nvSpPr>
        <p:spPr>
          <a:xfrm>
            <a:off x="457200" y="39410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Row icon 5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4071823"/>
            <a:ext cx="241402" cy="2414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88720" y="39227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haruka dadus sensível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1188720" y="42153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Evita haruka liuhusi grupu WhatsApp ne'ebé loke ba ema barak.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Ezersísiu prátiku</a:t>
            </a:r>
            <a:endParaRPr lang="en-US" sz="3000" dirty="0"/>
          </a:p>
        </p:txBody>
      </p:sp>
      <p:sp>
        <p:nvSpPr>
          <p:cNvPr id="4" name="Stat panel"/>
          <p:cNvSpPr/>
          <p:nvPr/>
        </p:nvSpPr>
        <p:spPr>
          <a:xfrm>
            <a:off x="457200" y="132588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691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3"/>
                </a:solidFill>
              </a:rPr>
              <a:t>45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minutu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Prátika input no verifikasaun dadus</a:t>
            </a:r>
            <a:endParaRPr lang="en-US" sz="1600" dirty="0"/>
          </a:p>
        </p:txBody>
      </p:sp>
      <p:sp>
        <p:nvSpPr>
          <p:cNvPr id="7" name="Number 1"/>
          <p:cNvSpPr/>
          <p:nvPr/>
        </p:nvSpPr>
        <p:spPr>
          <a:xfrm>
            <a:off x="3566160" y="1371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13533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Simu formuláriu ho kazu ezemplu 10</a:t>
            </a:r>
            <a:endParaRPr lang="en-US" sz="1500" dirty="0"/>
          </a:p>
        </p:txBody>
      </p:sp>
      <p:sp>
        <p:nvSpPr>
          <p:cNvPr id="10" name="Number 2"/>
          <p:cNvSpPr/>
          <p:nvPr/>
        </p:nvSpPr>
        <p:spPr>
          <a:xfrm>
            <a:off x="3566160" y="20116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661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199339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Input dadus iha Excel tuir regra baze dadus</a:t>
            </a:r>
            <a:endParaRPr lang="en-US" sz="1500" dirty="0"/>
          </a:p>
        </p:txBody>
      </p:sp>
      <p:sp>
        <p:nvSpPr>
          <p:cNvPr id="13" name="Number 3"/>
          <p:cNvSpPr/>
          <p:nvPr/>
        </p:nvSpPr>
        <p:spPr>
          <a:xfrm>
            <a:off x="3566160" y="26517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6616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26334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Troka ho kolega no verifika malu</a:t>
            </a:r>
            <a:endParaRPr lang="en-US" sz="1500" dirty="0"/>
          </a:p>
        </p:txBody>
      </p:sp>
      <p:sp>
        <p:nvSpPr>
          <p:cNvPr id="16" name="Number 4"/>
          <p:cNvSpPr/>
          <p:nvPr/>
        </p:nvSpPr>
        <p:spPr>
          <a:xfrm>
            <a:off x="3566160" y="32918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566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160520" y="32735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Lista erru ne'ebé hetan</a:t>
            </a:r>
            <a:endParaRPr lang="en-US" sz="1500" dirty="0"/>
          </a:p>
        </p:txBody>
      </p:sp>
      <p:sp>
        <p:nvSpPr>
          <p:cNvPr id="19" name="Number 5"/>
          <p:cNvSpPr/>
          <p:nvPr/>
        </p:nvSpPr>
        <p:spPr>
          <a:xfrm>
            <a:off x="3566160" y="393192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5661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39136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Diskusaun: oinsá prevene erru ne'e?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Rezumu loron 2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632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Organiza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Kazu = liña, variável = kolona, kodigu ID úniku.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087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66329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Verifika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Konfere amostra, buka duplikadu no valór estranhu.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280160"/>
            <a:ext cx="25908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0876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66329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28600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Proteje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2608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Password, backup no aksesu limitadu.</a:t>
            </a:r>
            <a:endParaRPr lang="en-US" sz="1400" dirty="0"/>
          </a:p>
        </p:txBody>
      </p:sp>
      <p:sp>
        <p:nvSpPr>
          <p:cNvPr id="19" name="Loron tuir mai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Aban (loron 3): análize dadus, relatóriu no planu asaun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I RbR Formasaun">
  <a:themeElements>
    <a:clrScheme name="KSI RbR Formasaun">
      <a:dk1>
        <a:srgbClr val="17261F"/>
      </a:dk1>
      <a:lt1>
        <a:srgbClr val="FFFFFF"/>
      </a:lt1>
      <a:dk2>
        <a:srgbClr val="1F4D3A"/>
      </a:dk2>
      <a:lt2>
        <a:srgbClr val="E9F0EC"/>
      </a:lt2>
      <a:accent1>
        <a:srgbClr val="C8553D"/>
      </a:accent1>
      <a:accent2>
        <a:srgbClr val="2E7D5B"/>
      </a:accent2>
      <a:accent3>
        <a:srgbClr val="D99A1E"/>
      </a:accent3>
      <a:accent4>
        <a:srgbClr val="3C6E8F"/>
      </a:accent4>
      <a:accent5>
        <a:srgbClr val="8A5A44"/>
      </a:accent5>
      <a:accent6>
        <a:srgbClr val="5F746B"/>
      </a:accent6>
      <a:hlink>
        <a:srgbClr val="3C6E8F"/>
      </a:hlink>
      <a:folHlink>
        <a:srgbClr val="8A5A44"/>
      </a:folHlink>
    </a:clrScheme>
    <a:fontScheme name="KSI RbR Formasau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Loron 2 – Jestaun Dadus, Input no Kualidade</dc:title>
  <dc:subject>PptxGenJS Presentation</dc:subject>
  <dc:creator>KSI – Rede ba Rai</dc:creator>
  <cp:lastModifiedBy>KSI – Rede ba Rai</cp:lastModifiedBy>
  <cp:revision>1</cp:revision>
  <dcterms:created xsi:type="dcterms:W3CDTF">2026-10-13T01:57:37Z</dcterms:created>
  <dcterms:modified xsi:type="dcterms:W3CDTF">2026-10-13T01:57:37Z</dcterms:modified>
</cp:coreProperties>
</file>