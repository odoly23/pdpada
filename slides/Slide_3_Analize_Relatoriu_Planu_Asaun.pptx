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ron 3" id="{f1af8476-6739-aa0f-f509-210f59cbf4c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Kazu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726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Disputa limite</c:v>
                  </c:pt>
                  <c:pt idx="1">
                    <c:v>Eviksaun</c:v>
                  </c:pt>
                  <c:pt idx="2">
                    <c:v>Eransa</c:v>
                  </c:pt>
                  <c:pt idx="3">
                    <c:v>Konflitu projetu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726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D3DD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4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Hahú ho rekapitulasaun badak husi loron 2 (30 minutu): input, verifikasaun, kualidade no seguransa dadus.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Esplika katak ohin ita uza dadus ne'ebé organiza ona atu sai informasaun no asaun.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agenda. Post-test iha tuku 15:00.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Análize komesa ho pergunta, la'ós ho fórmula.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 ezemplu ho kalkulasaun iha kuadru. Husu partisipante halo iha Excel ho =D2/D6.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Dadus ne'e fiktísiu atu aprende. Husu: saida mak ita haree husi gráfiku ne'e?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ezemplu kodifikasaun iha papél/flipchart. Prátika ho kutipan ezemplu.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Ezemplu: 28% kazu eviksaun (númeru) + testemuña família (istória).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tabela ezemplu iha liman-karuk. Husu: saida mak di'ak no saida mak bele hadi'a?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Hatudu ezemplu ba tipu ida-idak no husu partisipante hili ba kazu spesífiku.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Rezumu 1 pájina ne'e utíl liu ba lider no doadór ne'ebé la iha tempu atu le relatóriu naruk.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Liga dadus ho indikadór projetu. Hatudu estrutura relatóriu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Ezemplu atu diskute. Partisipante sira kompleta ho nia organizasaun rasik iha grupu.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Post-test uza pergunta hanesan ho pre-test atu bele kompara pontuasaun.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Rezumu mensajen xave formasaun 3 loron. Konvida partisipante sira atu fahe planu asaun, no tau lembrete kona-ba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2588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24612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KSI · Rede ba Rai  |  Formasaun Rekolla no Jestaun Dadus  ·  19–21 Outubru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1"/>
          <p:cNvSpPr/>
          <p:nvPr/>
        </p:nvSpPr>
        <p:spPr>
          <a:xfrm>
            <a:off x="6583680" y="2377440"/>
            <a:ext cx="4206240" cy="4206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Motif 2"/>
          <p:cNvSpPr/>
          <p:nvPr/>
        </p:nvSpPr>
        <p:spPr>
          <a:xfrm>
            <a:off x="7589520" y="-822960"/>
            <a:ext cx="2194560" cy="21945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Motif 3"/>
          <p:cNvSpPr/>
          <p:nvPr/>
        </p:nvSpPr>
        <p:spPr>
          <a:xfrm>
            <a:off x="5760720" y="402336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13258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Análize Dadus, Relatóriu no Planu Asaun</a:t>
            </a:r>
            <a:endParaRPr lang="en-US" sz="34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548640" y="3246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Formasaun Rekolla no Jestaun Dadus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KSI – Rede ba Rai (RbR)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31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LORON 3  ·  KUARTA-FEIRA, 21 OUTUBRU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Fasilitadór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Objetivu loron 3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Chart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Analiza dadus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Bele halo análize simples ba dadus kuantitativu no kualitativu.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766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350520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34" y="17090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52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Aprezenta informasaun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052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Bele prepara tabela, gráfiku no rezumu ba relatóriu.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960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6324600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34" y="17090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246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Planu asaun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3246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Bele halo planu asaun ba rekolla no jestaun dadus RbR.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 loron 3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Oras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Atividade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08:30–09:00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Rekapitulasaun loron segundu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09:00–10:30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Introdusaun ba análize dadus kuantitativu no kualitativu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10:45–12:00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Preparasaun tabela, gráfiku no rezumu informasaun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13:00–14:00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Utilizasaun dadus ba monitorizasaun no relatóriu projetu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14:00–15:00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Dezenvolvimentu planu asaun ba rekolla no jestaun dadus RbR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15:00–15:30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Post-test no avaliasaun formasaun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15:30–16:00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Apresentasaun rezultadu, rekomendasaun no enserramentu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Deskansu 10:30–10:45  ·  Almosu 12:00–13:00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Análize dadus: pasu 4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371600"/>
            <a:ext cx="1851660" cy="29260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621792" y="1536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121408"/>
            <a:ext cx="1522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Hakerek pergunta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743200"/>
            <a:ext cx="1522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Ita hakarak hatene saida?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 rot="5400000">
            <a:off x="2372868" y="274320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0" name="Step 2"/>
          <p:cNvSpPr/>
          <p:nvPr/>
        </p:nvSpPr>
        <p:spPr>
          <a:xfrm>
            <a:off x="2583180" y="1371600"/>
            <a:ext cx="1851660" cy="29260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2747772" y="15361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4777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747772" y="2121408"/>
            <a:ext cx="1522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Organiza dadus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747772" y="2743200"/>
            <a:ext cx="1522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Dadus ne'ebé verifika ona.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 rot="5400000">
            <a:off x="4498848" y="274320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6" name="Step 3"/>
          <p:cNvSpPr/>
          <p:nvPr/>
        </p:nvSpPr>
        <p:spPr>
          <a:xfrm>
            <a:off x="4709160" y="1371600"/>
            <a:ext cx="1851660" cy="29260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7" name="Number 3"/>
          <p:cNvSpPr/>
          <p:nvPr/>
        </p:nvSpPr>
        <p:spPr>
          <a:xfrm>
            <a:off x="4873752" y="153619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7375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873752" y="2121408"/>
            <a:ext cx="1522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Kalkula ka kodifika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873752" y="2743200"/>
            <a:ext cx="1522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Konta, persentajen, tema.</a:t>
            </a:r>
            <a:endParaRPr lang="en-US" sz="1400" dirty="0"/>
          </a:p>
        </p:txBody>
      </p:sp>
      <p:sp>
        <p:nvSpPr>
          <p:cNvPr id="21" name="Arrow 3"/>
          <p:cNvSpPr/>
          <p:nvPr/>
        </p:nvSpPr>
        <p:spPr>
          <a:xfrm rot="5400000">
            <a:off x="6624828" y="274320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 4"/>
          <p:cNvSpPr/>
          <p:nvPr/>
        </p:nvSpPr>
        <p:spPr>
          <a:xfrm>
            <a:off x="6835140" y="1371600"/>
            <a:ext cx="1851660" cy="292608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3" name="Number 4"/>
          <p:cNvSpPr/>
          <p:nvPr/>
        </p:nvSpPr>
        <p:spPr>
          <a:xfrm>
            <a:off x="6999732" y="15361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9973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999732" y="2121408"/>
            <a:ext cx="1522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Interpreta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999732" y="2743200"/>
            <a:ext cx="1522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Saida mak rezultadu ne'e hatudu?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Análize kuantitativu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Calc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1091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Total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554480"/>
            <a:ext cx="3840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Soma kazu hotu: =SUM(...)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ChartP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27959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130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Persentajen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423160"/>
            <a:ext cx="3840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Parte ÷ total × 100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14827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Média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291840"/>
            <a:ext cx="3840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Total ÷ númeru kazu</a:t>
            </a:r>
            <a:endParaRPr lang="en-US" sz="1500" dirty="0"/>
          </a:p>
        </p:txBody>
      </p:sp>
      <p:sp>
        <p:nvSpPr>
          <p:cNvPr id="16" name="Row icon 4 circle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w icon 4" descr="FaChartB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401695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867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Komparasaun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160520"/>
            <a:ext cx="3840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Entre suku, munisípiu ka tinan</a:t>
            </a:r>
            <a:endParaRPr lang="en-US" sz="1500" dirty="0"/>
          </a:p>
        </p:txBody>
      </p:sp>
      <p:sp>
        <p:nvSpPr>
          <p:cNvPr id="20" name="Ezemplu panel"/>
          <p:cNvSpPr/>
          <p:nvPr/>
        </p:nvSpPr>
        <p:spPr>
          <a:xfrm>
            <a:off x="5394960" y="1325880"/>
            <a:ext cx="3291840" cy="31089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56692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EZEMPLU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66928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25 kazu disputa limite husi total 64 kazu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6692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25 ÷ 64 × 100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566928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= 39%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Ezemplu: kazu tuir tipu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zultadu"/>
          <p:cNvSpPr/>
          <p:nvPr/>
        </p:nvSpPr>
        <p:spPr>
          <a:xfrm>
            <a:off x="5852160" y="1325880"/>
            <a:ext cx="2834640" cy="310896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08076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64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608076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kazu hamutuk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08076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Disputa limite: 39%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Eviksaun: 28%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Eransa: 19%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Konflitu projetu: 14%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Análize kualitativu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280160"/>
            <a:ext cx="1851660" cy="21488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5" name="Number 1"/>
          <p:cNvSpPr/>
          <p:nvPr/>
        </p:nvSpPr>
        <p:spPr>
          <a:xfrm>
            <a:off x="621792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029968"/>
            <a:ext cx="1522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 istória hotu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651760"/>
            <a:ext cx="1522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Komprende kontestu.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 rot="5400000">
            <a:off x="2372868" y="226314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0" name="Step 2"/>
          <p:cNvSpPr/>
          <p:nvPr/>
        </p:nvSpPr>
        <p:spPr>
          <a:xfrm>
            <a:off x="2583180" y="1280160"/>
            <a:ext cx="1851660" cy="21488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2747772" y="144475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4777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747772" y="2029968"/>
            <a:ext cx="1522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Marka ideia xave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747772" y="2651760"/>
            <a:ext cx="1522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Sublinha pontu importante.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 rot="5400000">
            <a:off x="4498848" y="226314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6" name="Step 3"/>
          <p:cNvSpPr/>
          <p:nvPr/>
        </p:nvSpPr>
        <p:spPr>
          <a:xfrm>
            <a:off x="4709160" y="1280160"/>
            <a:ext cx="1851660" cy="21488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17" name="Number 3"/>
          <p:cNvSpPr/>
          <p:nvPr/>
        </p:nvSpPr>
        <p:spPr>
          <a:xfrm>
            <a:off x="4873752" y="144475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7375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873752" y="2029968"/>
            <a:ext cx="1522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Grupu tuir tema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873752" y="2651760"/>
            <a:ext cx="1522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Ez: falta avizu, ameasa.</a:t>
            </a:r>
            <a:endParaRPr lang="en-US" sz="1400" dirty="0"/>
          </a:p>
        </p:txBody>
      </p:sp>
      <p:sp>
        <p:nvSpPr>
          <p:cNvPr id="21" name="Arrow 3"/>
          <p:cNvSpPr/>
          <p:nvPr/>
        </p:nvSpPr>
        <p:spPr>
          <a:xfrm rot="5400000">
            <a:off x="6624828" y="2263140"/>
            <a:ext cx="146304" cy="182880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 4"/>
          <p:cNvSpPr/>
          <p:nvPr/>
        </p:nvSpPr>
        <p:spPr>
          <a:xfrm>
            <a:off x="6835140" y="1280160"/>
            <a:ext cx="1851660" cy="21488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/>
        </p:spPr>
      </p:sp>
      <p:sp>
        <p:nvSpPr>
          <p:cNvPr id="23" name="Number 4"/>
          <p:cNvSpPr/>
          <p:nvPr/>
        </p:nvSpPr>
        <p:spPr>
          <a:xfrm>
            <a:off x="6999732" y="144475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9973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999732" y="2029968"/>
            <a:ext cx="1522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Hili kutipan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999732" y="2651760"/>
            <a:ext cx="1522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 apoia relatóriu.</a:t>
            </a:r>
            <a:endParaRPr lang="en-US" sz="1400" dirty="0"/>
          </a:p>
        </p:txBody>
      </p:sp>
      <p:sp>
        <p:nvSpPr>
          <p:cNvPr id="27" name="Ezemplu kodifikasaun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Ezemplu: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“Ami la hetan avizu molok ema mai hasai ami husi uma.”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→ Tema: falta avizu molok eviksaun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Kombina kuantitativu no kualitativu</a:t>
            </a:r>
            <a:endParaRPr lang="en-US" sz="3000" dirty="0"/>
          </a:p>
        </p:txBody>
      </p:sp>
      <p:sp>
        <p:nvSpPr>
          <p:cNvPr id="4" name="Left card"/>
          <p:cNvSpPr/>
          <p:nvPr/>
        </p:nvSpPr>
        <p:spPr>
          <a:xfrm>
            <a:off x="457200" y="128016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Númeru hatudu “hira”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Kazu hira iha suku ida?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Persentajen kazu eviksaun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Mudansa husi tinan ba tinan</a:t>
            </a:r>
            <a:endParaRPr lang="en-US" sz="1400" dirty="0"/>
          </a:p>
        </p:txBody>
      </p:sp>
      <p:sp>
        <p:nvSpPr>
          <p:cNvPr id="7" name="Right card"/>
          <p:cNvSpPr/>
          <p:nvPr/>
        </p:nvSpPr>
        <p:spPr>
          <a:xfrm>
            <a:off x="4663440" y="128016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Istória hatudu “tanba sá”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Tanba sá eviksaun akontese?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Oinsá família sente?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Dezafiu saida mak sira hasoru?</a:t>
            </a:r>
            <a:endParaRPr lang="en-US" sz="1400" dirty="0"/>
          </a:p>
        </p:txBody>
      </p:sp>
      <p:sp>
        <p:nvSpPr>
          <p:cNvPr id="10" name="Mensajen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Hamutuk, númeru no istória sai evidénsia ne'ebé forte liu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Tabela ne'ebé di'ak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1091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Títulu klaru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554480"/>
            <a:ext cx="3383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Hatudu tópiku no períodu.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27959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130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Kolona ho naran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423160"/>
            <a:ext cx="3383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Inklui unidade (ha, %).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Calcul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14827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Total no %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291840"/>
            <a:ext cx="3383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Fasilita komparasaun.</a:t>
            </a:r>
            <a:endParaRPr lang="en-US" sz="1500" dirty="0"/>
          </a:p>
        </p:txBody>
      </p:sp>
      <p:sp>
        <p:nvSpPr>
          <p:cNvPr id="16" name="Row icon 4 circle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w icon 4" descr="FaF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401695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Fonte no data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160520"/>
            <a:ext cx="3383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Hatudu dadus mai husi ne'ebé.</a:t>
            </a:r>
            <a:endParaRPr lang="en-US" sz="1500" dirty="0"/>
          </a:p>
        </p:txBody>
      </p:sp>
      <p:graphicFrame>
        <p:nvGraphicFramePr>
          <p:cNvPr id="10" name="Tabela ezempl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Tipu kazu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Disputa limite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39%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Eviksaun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28%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Eransa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19%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Konflitu projetu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14%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1" name="Text 13"/>
          <p:cNvSpPr txBox="1"/>
          <p:nvPr/>
        </p:nvSpPr>
        <p:spPr>
          <a:xfrm>
            <a:off x="493776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Dadus ezemplu atu aprende de'it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Hili gráfiku ne'ebé loos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Card icon 1 circle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 icon 1" descr="FaChart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090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Barra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 kompara kategoria. Ez: kazu tuir suku.</a:t>
            </a:r>
            <a:endParaRPr lang="en-US" sz="1400" dirty="0"/>
          </a:p>
        </p:txBody>
      </p:sp>
      <p:sp>
        <p:nvSpPr>
          <p:cNvPr id="9" name="Card 2"/>
          <p:cNvSpPr/>
          <p:nvPr/>
        </p:nvSpPr>
        <p:spPr>
          <a:xfrm>
            <a:off x="32766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0" name="Card icon 2 circle"/>
          <p:cNvSpPr/>
          <p:nvPr/>
        </p:nvSpPr>
        <p:spPr>
          <a:xfrm>
            <a:off x="3505200" y="1554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Card icon 2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34" y="17090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052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Liña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052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 hatudu mudansa tuir tempu. Ez: kazu kada fulan.</a:t>
            </a:r>
            <a:endParaRPr lang="en-US" sz="1400" dirty="0"/>
          </a:p>
        </p:txBody>
      </p:sp>
      <p:sp>
        <p:nvSpPr>
          <p:cNvPr id="14" name="Card 3"/>
          <p:cNvSpPr/>
          <p:nvPr/>
        </p:nvSpPr>
        <p:spPr>
          <a:xfrm>
            <a:off x="6096000" y="1325880"/>
            <a:ext cx="259080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5" name="Card icon 3 circle"/>
          <p:cNvSpPr/>
          <p:nvPr/>
        </p:nvSpPr>
        <p:spPr>
          <a:xfrm>
            <a:off x="6324600" y="15544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Card icon 3" descr="FaChartP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34" y="17090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24600" y="2331720"/>
            <a:ext cx="213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Bolu (pie)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324600" y="2971800"/>
            <a:ext cx="213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 hatudu proporsaun. Uza kategoria 5 ka menus.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Rezumu informasaun 1 pájina</a:t>
            </a:r>
            <a:endParaRPr lang="en-US" sz="3000" dirty="0"/>
          </a:p>
        </p:txBody>
      </p:sp>
      <p:sp>
        <p:nvSpPr>
          <p:cNvPr id="4" name="Bloku 1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5" name="Bloku icon 1 circle"/>
          <p:cNvSpPr/>
          <p:nvPr/>
        </p:nvSpPr>
        <p:spPr>
          <a:xfrm>
            <a:off x="685800" y="17373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Bloku icon 1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89189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Pergunta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Ita hakarak hatene saida?</a:t>
            </a:r>
            <a:endParaRPr lang="en-US" sz="1500" dirty="0"/>
          </a:p>
        </p:txBody>
      </p:sp>
      <p:sp>
        <p:nvSpPr>
          <p:cNvPr id="9" name="Bloku 2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0" name="Bloku icon 2 circle"/>
          <p:cNvSpPr/>
          <p:nvPr/>
        </p:nvSpPr>
        <p:spPr>
          <a:xfrm>
            <a:off x="4892040" y="17373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Bloku icon 2" descr="FaChartB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74" y="189189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Rezultadu xave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71500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Pontu 3–5 ho númeru.</a:t>
            </a:r>
            <a:endParaRPr lang="en-US" sz="1500" dirty="0"/>
          </a:p>
        </p:txBody>
      </p:sp>
      <p:sp>
        <p:nvSpPr>
          <p:cNvPr id="14" name="Bloku 3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5" name="Bloku icon 3 circle"/>
          <p:cNvSpPr/>
          <p:nvPr/>
        </p:nvSpPr>
        <p:spPr>
          <a:xfrm>
            <a:off x="685800" y="33832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Bloku icon 3" descr="Fa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35378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Interpretasaun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Saida mak rezultadu ne'e signifika?</a:t>
            </a:r>
            <a:endParaRPr lang="en-US" sz="1500" dirty="0"/>
          </a:p>
        </p:txBody>
      </p:sp>
      <p:sp>
        <p:nvSpPr>
          <p:cNvPr id="19" name="Bloku 4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0" name="Bloku icon 4 circle"/>
          <p:cNvSpPr/>
          <p:nvPr/>
        </p:nvSpPr>
        <p:spPr>
          <a:xfrm>
            <a:off x="4892040" y="33832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Bloku icon 4" descr="FaFlagChecker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74" y="353781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Rekomendasaun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Asaun saida mak presiza foti?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Dadus ba monitorizasaun no relatóriu</a:t>
            </a:r>
            <a:endParaRPr lang="en-US" sz="3000" dirty="0"/>
          </a:p>
        </p:txBody>
      </p:sp>
      <p:sp>
        <p:nvSpPr>
          <p:cNvPr id="4" name="Row icon 1 circle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w icon 1" descr="FaTas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410919"/>
            <a:ext cx="241402" cy="2414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Monitoriza progresu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1188720" y="1554480"/>
            <a:ext cx="3383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Kompara rezultadu ho indikadór.</a:t>
            </a:r>
            <a:endParaRPr lang="en-US" sz="1500" dirty="0"/>
          </a:p>
        </p:txBody>
      </p:sp>
      <p:sp>
        <p:nvSpPr>
          <p:cNvPr id="8" name="Row icon 2 circle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Row icon 2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279599"/>
            <a:ext cx="241402" cy="2414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130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Identifika dezafiu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188720" y="2423160"/>
            <a:ext cx="3383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Haree kazu ne'ebé la lao.</a:t>
            </a:r>
            <a:endParaRPr lang="en-US" sz="1500" dirty="0"/>
          </a:p>
        </p:txBody>
      </p:sp>
      <p:sp>
        <p:nvSpPr>
          <p:cNvPr id="12" name="Row icon 3 circle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Row icon 3" descr="FaF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14827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Hakerek relatóriu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1188720" y="3291840"/>
            <a:ext cx="3383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Hakerek ho evidénsia.</a:t>
            </a:r>
            <a:endParaRPr lang="en-US" sz="1500" dirty="0"/>
          </a:p>
        </p:txBody>
      </p:sp>
      <p:sp>
        <p:nvSpPr>
          <p:cNvPr id="16" name="Row icon 4 circle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Row icon 4" descr="FaBulls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4016959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Foti desizaun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1188720" y="4160520"/>
            <a:ext cx="3383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Bazeia ba evidénsia.</a:t>
            </a:r>
            <a:endParaRPr lang="en-US" sz="1500" dirty="0"/>
          </a:p>
        </p:txBody>
      </p:sp>
      <p:sp>
        <p:nvSpPr>
          <p:cNvPr id="20" name="Estrutura relatóriu"/>
          <p:cNvSpPr/>
          <p:nvPr/>
        </p:nvSpPr>
        <p:spPr>
          <a:xfrm>
            <a:off x="4846320" y="1280160"/>
            <a:ext cx="384048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507492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Estrutura relatóriu</a:t>
            </a:r>
            <a:endParaRPr lang="en-US" sz="1800" dirty="0"/>
          </a:p>
        </p:txBody>
      </p:sp>
      <p:sp>
        <p:nvSpPr>
          <p:cNvPr id="22" name="Number 1"/>
          <p:cNvSpPr/>
          <p:nvPr/>
        </p:nvSpPr>
        <p:spPr>
          <a:xfrm>
            <a:off x="5074920" y="19202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507492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577840" y="19202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Kontextu</a:t>
            </a:r>
            <a:endParaRPr lang="en-US" sz="1500" dirty="0"/>
          </a:p>
        </p:txBody>
      </p:sp>
      <p:sp>
        <p:nvSpPr>
          <p:cNvPr id="25" name="Number 2"/>
          <p:cNvSpPr/>
          <p:nvPr/>
        </p:nvSpPr>
        <p:spPr>
          <a:xfrm>
            <a:off x="5074920" y="242316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507492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5577840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Atividade</a:t>
            </a:r>
            <a:endParaRPr lang="en-US" sz="1500" dirty="0"/>
          </a:p>
        </p:txBody>
      </p:sp>
      <p:sp>
        <p:nvSpPr>
          <p:cNvPr id="28" name="Number 3"/>
          <p:cNvSpPr/>
          <p:nvPr/>
        </p:nvSpPr>
        <p:spPr>
          <a:xfrm>
            <a:off x="5074920" y="2926080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507492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577840" y="2926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Rezultadu</a:t>
            </a:r>
            <a:endParaRPr lang="en-US" sz="1500" dirty="0"/>
          </a:p>
        </p:txBody>
      </p:sp>
      <p:sp>
        <p:nvSpPr>
          <p:cNvPr id="31" name="Number 4"/>
          <p:cNvSpPr/>
          <p:nvPr/>
        </p:nvSpPr>
        <p:spPr>
          <a:xfrm>
            <a:off x="5074920" y="3429000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507492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577840" y="3429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Dezafiu no lisaun</a:t>
            </a:r>
            <a:endParaRPr lang="en-US" sz="1500" dirty="0"/>
          </a:p>
        </p:txBody>
      </p:sp>
      <p:sp>
        <p:nvSpPr>
          <p:cNvPr id="34" name="Number 5"/>
          <p:cNvSpPr/>
          <p:nvPr/>
        </p:nvSpPr>
        <p:spPr>
          <a:xfrm>
            <a:off x="5074920" y="3931920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507492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5577840" y="3931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Rekomendasaun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Planu asaun RbR</a:t>
            </a:r>
            <a:endParaRPr lang="en-US" sz="3000" dirty="0"/>
          </a:p>
        </p:txBody>
      </p:sp>
      <p:graphicFrame>
        <p:nvGraphicFramePr>
          <p:cNvPr id="14" name="Tabela planu asau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55448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Asaun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Responsavel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Prazu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Indikadór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Uza formuláriu kazu padraun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Sekretariadu RbR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Novembru 2026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Formuláriu uza husi membru rede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Input dadus iha Excel kada fulan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Staff KSI no RbR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Kada fulan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Baze dadus atualiza kada fulan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Password no backup dadus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Sekretariadu RbR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Semana 1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Kópia iha fatin 3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Ezemplu atu diskute. Linha mamuk ba grupu kompleta.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Post-test no avaliasaun</a:t>
            </a:r>
            <a:endParaRPr lang="en-US" sz="3000" dirty="0"/>
          </a:p>
        </p:txBody>
      </p:sp>
      <p:sp>
        <p:nvSpPr>
          <p:cNvPr id="4" name="Estatístika 1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30</a:t>
            </a:r>
            <a:endParaRPr lang="en-US" sz="5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minutu ba post-test no avaliasaun formasaun</a:t>
            </a:r>
            <a:endParaRPr lang="en-US" sz="1500" dirty="0"/>
          </a:p>
        </p:txBody>
      </p:sp>
      <p:sp>
        <p:nvSpPr>
          <p:cNvPr id="7" name="Estatístika 2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7472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2"/>
                </a:solidFill>
              </a:rPr>
              <a:t>80%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partisipante aumenta pontuasaun husi pre-test ba post-test</a:t>
            </a:r>
            <a:endParaRPr lang="en-US" sz="1500" dirty="0"/>
          </a:p>
        </p:txBody>
      </p:sp>
      <p:sp>
        <p:nvSpPr>
          <p:cNvPr id="10" name="Estatístika 3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4"/>
                </a:solidFill>
              </a:rPr>
              <a:t>90%</a:t>
            </a:r>
            <a:endParaRPr lang="en-US" sz="56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partisipante kompleta formasaun loron 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1"/>
          <p:cNvSpPr/>
          <p:nvPr/>
        </p:nvSpPr>
        <p:spPr>
          <a:xfrm>
            <a:off x="6583680" y="2377440"/>
            <a:ext cx="4206240" cy="42062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Motif 2"/>
          <p:cNvSpPr/>
          <p:nvPr/>
        </p:nvSpPr>
        <p:spPr>
          <a:xfrm>
            <a:off x="7589520" y="-822960"/>
            <a:ext cx="2194560" cy="21945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Motif 3"/>
          <p:cNvSpPr/>
          <p:nvPr/>
        </p:nvSpPr>
        <p:spPr>
          <a:xfrm>
            <a:off x="5760720" y="402336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13258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Dadus di'ak, desizaun loos</a:t>
            </a:r>
            <a:endParaRPr lang="en-US" sz="34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548640" y="3246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Obrigadu ba partisipasaun. Aplika koñesimentu iha servisu loroloron no fahe ho kolega no komunidade.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31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ENSERRAMENTU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KSI – Rede ba Rai (RbR)  ·  Díli, 21 Outubru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SI RbR Formasaun">
  <a:themeElements>
    <a:clrScheme name="KSI RbR Formasaun">
      <a:dk1>
        <a:srgbClr val="17261F"/>
      </a:dk1>
      <a:lt1>
        <a:srgbClr val="FFFFFF"/>
      </a:lt1>
      <a:dk2>
        <a:srgbClr val="1F4D3A"/>
      </a:dk2>
      <a:lt2>
        <a:srgbClr val="E9F0EC"/>
      </a:lt2>
      <a:accent1>
        <a:srgbClr val="C8553D"/>
      </a:accent1>
      <a:accent2>
        <a:srgbClr val="2E7D5B"/>
      </a:accent2>
      <a:accent3>
        <a:srgbClr val="D99A1E"/>
      </a:accent3>
      <a:accent4>
        <a:srgbClr val="3C6E8F"/>
      </a:accent4>
      <a:accent5>
        <a:srgbClr val="8A5A44"/>
      </a:accent5>
      <a:accent6>
        <a:srgbClr val="5F746B"/>
      </a:accent6>
      <a:hlink>
        <a:srgbClr val="3C6E8F"/>
      </a:hlink>
      <a:folHlink>
        <a:srgbClr val="8A5A44"/>
      </a:folHlink>
    </a:clrScheme>
    <a:fontScheme name="KSI RbR Formasau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Loron 3 – Análize Dadus, Relatóriu no Planu Asaun</dc:title>
  <dc:subject>PptxGenJS Presentation</dc:subject>
  <dc:creator>KSI – Rede ba Rai</dc:creator>
  <cp:lastModifiedBy>KSI – Rede ba Rai</cp:lastModifiedBy>
  <cp:revision>1</cp:revision>
  <dcterms:created xsi:type="dcterms:W3CDTF">2026-10-13T01:57:59Z</dcterms:created>
  <dcterms:modified xsi:type="dcterms:W3CDTF">2026-10-13T01:57:59Z</dcterms:modified>
</cp:coreProperties>
</file>